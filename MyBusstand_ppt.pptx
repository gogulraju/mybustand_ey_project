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notesSlides/notesSlide2.xml" ContentType="application/vnd.openxmlformats-officedocument.presentationml.notesSlide+xml"/>
  <Override PartName="/ppt/tags/tag6.xml" ContentType="application/vnd.openxmlformats-officedocument.presentationml.tags+xml"/>
  <Override PartName="/ppt/tags/tag8.xml" ContentType="application/vnd.openxmlformats-officedocument.presentationml.tags+xml"/>
  <Override PartName="/ppt/metadata" ContentType="application/binary"/>
  <Default Extension="svg" ContentType="image/svg+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Override PartName="/ppt/tags/tag2.xml" ContentType="application/vnd.openxmlformats-officedocument.presentationml.tags+xml"/>
  <Override PartName="/ppt/tags/tag3.xml" ContentType="application/vnd.openxmlformats-officedocument.presentationml.tags+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notesSlides/notesSlide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9.xml" ContentType="application/vnd.openxmlformats-officedocument.presentationml.tags+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tags/tag7.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4"/>
  </p:sldMasterIdLst>
  <p:notesMasterIdLst>
    <p:notesMasterId r:id="rId19"/>
  </p:notesMasterIdLst>
  <p:sldIdLst>
    <p:sldId id="256" r:id="rId5"/>
    <p:sldId id="1249" r:id="rId6"/>
    <p:sldId id="1085" r:id="rId7"/>
    <p:sldId id="352" r:id="rId8"/>
    <p:sldId id="1254" r:id="rId9"/>
    <p:sldId id="1261" r:id="rId10"/>
    <p:sldId id="1259" r:id="rId11"/>
    <p:sldId id="1264" r:id="rId12"/>
    <p:sldId id="1253" r:id="rId13"/>
    <p:sldId id="1262" r:id="rId14"/>
    <p:sldId id="1265" r:id="rId15"/>
    <p:sldId id="1266" r:id="rId16"/>
    <p:sldId id="1267" r:id="rId17"/>
    <p:sldId id="1255" r:id="rId18"/>
  </p:sldIdLst>
  <p:sldSz cx="12192000" cy="6858000"/>
  <p:notesSz cx="6858000" cy="9144000"/>
  <p:custDataLst>
    <p:tags r:id="rId20"/>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784" userDrawn="1">
          <p15:clr>
            <a:srgbClr val="A4A3A4"/>
          </p15:clr>
        </p15:guide>
        <p15:guide id="2" pos="192" userDrawn="1">
          <p15:clr>
            <a:srgbClr val="A4A3A4"/>
          </p15:clr>
        </p15:guide>
        <p15:guide id="3" orient="horz" pos="1080" userDrawn="1">
          <p15:clr>
            <a:srgbClr val="A4A3A4"/>
          </p15:clr>
        </p15:guide>
        <p15:guide id="4" orient="horz" pos="2160" userDrawn="1">
          <p15:clr>
            <a:srgbClr val="A4A3A4"/>
          </p15:clr>
        </p15:guide>
        <p15:guide id="5" orient="horz" pos="4032" userDrawn="1">
          <p15:clr>
            <a:srgbClr val="A4A3A4"/>
          </p15:clr>
        </p15:guide>
      </p15:sldGuideLst>
    </p:ext>
    <p:ext uri="http://customooxmlschemas.google.com/">
      <go:slidesCustomData xmlns=""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D5E3FF"/>
    <a:srgbClr val="FFE500"/>
    <a:srgbClr val="B9D0FF"/>
    <a:srgbClr val="034977"/>
    <a:srgbClr val="023558"/>
    <a:srgbClr val="045890"/>
    <a:srgbClr val="0000FF"/>
    <a:srgbClr val="EDE2EE"/>
    <a:srgbClr val="1B35B5"/>
    <a:srgbClr val="667CE8"/>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2290" autoAdjust="0"/>
    <p:restoredTop sz="95097" autoAdjust="0"/>
  </p:normalViewPr>
  <p:slideViewPr>
    <p:cSldViewPr snapToGrid="0">
      <p:cViewPr varScale="1">
        <p:scale>
          <a:sx n="73" d="100"/>
          <a:sy n="73" d="100"/>
        </p:scale>
        <p:origin x="-732" y="-102"/>
      </p:cViewPr>
      <p:guideLst>
        <p:guide orient="horz" pos="784"/>
        <p:guide orient="horz" pos="1080"/>
        <p:guide orient="horz" pos="2160"/>
        <p:guide orient="horz" pos="4032"/>
        <p:guide pos="192"/>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22"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ags" Target="tags/tag1.xml"/><Relationship Id="rId22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20" Type="http://customschemas.google.com/relationships/presentationmetadata" Target="metadata"/><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notesMaster" Target="notesMasters/notesMaster1.xml"/><Relationship Id="rId22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xmlns="" val="2930802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lgn="l" rtl="0" fontAlgn="base">
              <a:buNone/>
            </a:pPr>
            <a:r>
              <a:rPr lang="en-IN" b="1" i="0" u="none" strike="noStrike">
                <a:solidFill>
                  <a:srgbClr val="000000"/>
                </a:solidFill>
                <a:effectLst/>
                <a:highlight>
                  <a:srgbClr val="F5F5F5"/>
                </a:highlight>
                <a:latin typeface="Arial" panose="020B0604020202020204" pitchFamily="34" charset="0"/>
              </a:rPr>
              <a:t>Speaker would be briefing the students that this content has been prepared for the educational purpose only and is referred from multiple sites which are cited in the last.</a:t>
            </a:r>
            <a:r>
              <a:rPr lang="en-IN" b="0" i="0" u="none" strike="noStrike">
                <a:solidFill>
                  <a:srgbClr val="000000"/>
                </a:solidFill>
                <a:effectLst/>
                <a:highlight>
                  <a:srgbClr val="F5F5F5"/>
                </a:highlight>
                <a:latin typeface="Arial" panose="020B0604020202020204" pitchFamily="34" charset="0"/>
              </a:rPr>
              <a:t>​</a:t>
            </a:r>
            <a:r>
              <a:rPr lang="en-US" b="0" i="0">
                <a:solidFill>
                  <a:srgbClr val="444444"/>
                </a:solidFill>
                <a:effectLst/>
                <a:highlight>
                  <a:srgbClr val="F5F5F5"/>
                </a:highlight>
                <a:latin typeface="Arial" panose="020B0604020202020204" pitchFamily="34" charset="0"/>
              </a:rPr>
              <a:t>​</a:t>
            </a:r>
            <a:endParaRPr lang="en-US" b="0" i="0">
              <a:solidFill>
                <a:srgbClr val="444444"/>
              </a:solidFill>
              <a:effectLst/>
              <a:highlight>
                <a:srgbClr val="F5F5F5"/>
              </a:highlight>
              <a:latin typeface="Calibri" panose="020F0502020204030204" pitchFamily="34" charset="0"/>
            </a:endParaRPr>
          </a:p>
          <a:p>
            <a:pPr marL="158750" indent="0" algn="l" rtl="0" fontAlgn="base">
              <a:buNone/>
            </a:pPr>
            <a:r>
              <a:rPr lang="en-IN" b="1" i="0" u="none" strike="noStrike">
                <a:solidFill>
                  <a:srgbClr val="000000"/>
                </a:solidFill>
                <a:effectLst/>
                <a:highlight>
                  <a:srgbClr val="F5F5F5"/>
                </a:highlight>
                <a:latin typeface="Arial" panose="020B0604020202020204" pitchFamily="34" charset="0"/>
              </a:rPr>
              <a:t>---------------------------------------------------</a:t>
            </a:r>
            <a:r>
              <a:rPr lang="en-US" b="0" i="0" u="none" strike="noStrike">
                <a:solidFill>
                  <a:srgbClr val="000000"/>
                </a:solidFill>
                <a:effectLst/>
                <a:highlight>
                  <a:srgbClr val="F5F5F5"/>
                </a:highlight>
                <a:latin typeface="Arial" panose="020B0604020202020204" pitchFamily="34" charset="0"/>
              </a:rPr>
              <a:t>​</a:t>
            </a:r>
            <a:r>
              <a:rPr lang="en-US" b="0" i="0">
                <a:solidFill>
                  <a:srgbClr val="444444"/>
                </a:solidFill>
                <a:effectLst/>
                <a:highlight>
                  <a:srgbClr val="F5F5F5"/>
                </a:highlight>
                <a:latin typeface="Arial" panose="020B0604020202020204" pitchFamily="34" charset="0"/>
              </a:rPr>
              <a:t>​</a:t>
            </a:r>
            <a:endParaRPr lang="en-US" b="0" i="0">
              <a:solidFill>
                <a:srgbClr val="444444"/>
              </a:solidFill>
              <a:effectLst/>
              <a:highlight>
                <a:srgbClr val="F5F5F5"/>
              </a:highlight>
              <a:latin typeface="Calibri" panose="020F0502020204030204" pitchFamily="34" charset="0"/>
            </a:endParaRPr>
          </a:p>
          <a:p>
            <a:pPr marL="158750" indent="0" algn="l" rtl="0" fontAlgn="base">
              <a:buNone/>
            </a:pPr>
            <a:r>
              <a:rPr lang="en-IN" b="1" i="0" u="none" strike="noStrike">
                <a:solidFill>
                  <a:srgbClr val="000000"/>
                </a:solidFill>
                <a:effectLst/>
                <a:highlight>
                  <a:srgbClr val="F5F5F5"/>
                </a:highlight>
                <a:latin typeface="Arial" panose="020B0604020202020204" pitchFamily="34" charset="0"/>
              </a:rPr>
              <a:t>A disclaimer is a statement or notice that is intended to clarify, limit, or provide information about the scope, limitations, or potential risks associated with certain actions, information, products, services, or content. </a:t>
            </a:r>
            <a:r>
              <a:rPr lang="en-US" b="0" i="0" u="none" strike="noStrike">
                <a:solidFill>
                  <a:srgbClr val="000000"/>
                </a:solidFill>
                <a:effectLst/>
                <a:highlight>
                  <a:srgbClr val="F5F5F5"/>
                </a:highlight>
                <a:latin typeface="Arial" panose="020B0604020202020204" pitchFamily="34" charset="0"/>
              </a:rPr>
              <a:t>​</a:t>
            </a:r>
            <a:r>
              <a:rPr lang="en-US" b="0" i="0">
                <a:solidFill>
                  <a:srgbClr val="444444"/>
                </a:solidFill>
                <a:effectLst/>
                <a:highlight>
                  <a:srgbClr val="F5F5F5"/>
                </a:highlight>
                <a:latin typeface="Arial" panose="020B0604020202020204" pitchFamily="34" charset="0"/>
              </a:rPr>
              <a:t>​</a:t>
            </a:r>
            <a:endParaRPr lang="en-US" b="0" i="0">
              <a:solidFill>
                <a:srgbClr val="444444"/>
              </a:solidFill>
              <a:effectLst/>
              <a:highlight>
                <a:srgbClr val="F5F5F5"/>
              </a:highlight>
              <a:latin typeface="Calibri" panose="020F0502020204030204" pitchFamily="34" charset="0"/>
            </a:endParaRPr>
          </a:p>
          <a:p>
            <a:pPr marL="158750" indent="0" algn="l" rtl="0" fontAlgn="base">
              <a:buNone/>
            </a:pPr>
            <a:r>
              <a:rPr lang="en-US" b="0" i="0" u="none" strike="noStrike">
                <a:solidFill>
                  <a:srgbClr val="000000"/>
                </a:solidFill>
                <a:effectLst/>
                <a:highlight>
                  <a:srgbClr val="F5F5F5"/>
                </a:highlight>
                <a:latin typeface="Arial" panose="020B0604020202020204" pitchFamily="34" charset="0"/>
              </a:rPr>
              <a:t>​</a:t>
            </a:r>
            <a:r>
              <a:rPr lang="en-US" b="0" i="0">
                <a:solidFill>
                  <a:srgbClr val="444444"/>
                </a:solidFill>
                <a:effectLst/>
                <a:highlight>
                  <a:srgbClr val="F5F5F5"/>
                </a:highlight>
                <a:latin typeface="Arial" panose="020B0604020202020204" pitchFamily="34" charset="0"/>
              </a:rPr>
              <a:t>​</a:t>
            </a:r>
            <a:endParaRPr lang="en-US" b="0" i="0">
              <a:solidFill>
                <a:srgbClr val="444444"/>
              </a:solidFill>
              <a:effectLst/>
              <a:highlight>
                <a:srgbClr val="F5F5F5"/>
              </a:highlight>
              <a:latin typeface="Calibri" panose="020F0502020204030204" pitchFamily="34" charset="0"/>
            </a:endParaRPr>
          </a:p>
          <a:p>
            <a:pPr marL="158750" indent="0" algn="l" rtl="0" fontAlgn="base">
              <a:buNone/>
            </a:pPr>
            <a:r>
              <a:rPr lang="en-US" b="0" i="0">
                <a:solidFill>
                  <a:srgbClr val="444444"/>
                </a:solidFill>
                <a:effectLst/>
                <a:highlight>
                  <a:srgbClr val="F5F5F5"/>
                </a:highlight>
                <a:latin typeface="Arial" panose="020B0604020202020204" pitchFamily="34" charset="0"/>
              </a:rPr>
              <a:t>​</a:t>
            </a:r>
            <a:endParaRPr lang="en-US" b="0" i="0">
              <a:solidFill>
                <a:srgbClr val="444444"/>
              </a:solidFill>
              <a:effectLst/>
              <a:highlight>
                <a:srgbClr val="F5F5F5"/>
              </a:highlight>
              <a:latin typeface="Calibri" panose="020F0502020204030204" pitchFamily="34" charset="0"/>
            </a:endParaRPr>
          </a:p>
          <a:p>
            <a:pPr marL="0" indent="0">
              <a:buNone/>
            </a:pPr>
            <a:endParaRPr lang="en-US" sz="1100" b="1" spc="-5">
              <a:solidFill>
                <a:srgbClr val="223366"/>
              </a:solidFill>
            </a:endParaRPr>
          </a:p>
        </p:txBody>
      </p:sp>
    </p:spTree>
    <p:extLst>
      <p:ext uri="{BB962C8B-B14F-4D97-AF65-F5344CB8AC3E}">
        <p14:creationId xmlns:p14="http://schemas.microsoft.com/office/powerpoint/2010/main" xmlns="" val="12723071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pPr marL="158750" indent="0">
              <a:buNone/>
            </a:pPr>
            <a:r>
              <a:rPr lang="en-US" sz="1800" b="1" i="0" u="none" strike="noStrike">
                <a:solidFill>
                  <a:srgbClr val="000000"/>
                </a:solidFill>
                <a:effectLst/>
                <a:latin typeface="Arial" panose="020B0604020202020204" pitchFamily="34" charset="0"/>
              </a:rPr>
              <a:t>In this slide speaker will be introducing </a:t>
            </a:r>
            <a:r>
              <a:rPr lang="en-US" sz="1800" b="1">
                <a:effectLst/>
                <a:latin typeface="Arial" panose="020B0604020202020204" pitchFamily="34" charset="0"/>
                <a:ea typeface="Arial MT"/>
              </a:rPr>
              <a:t>the</a:t>
            </a:r>
            <a:r>
              <a:rPr lang="en-US" sz="1800" b="1" spc="-10">
                <a:effectLst/>
                <a:latin typeface="Arial" panose="020B0604020202020204" pitchFamily="34" charset="0"/>
                <a:ea typeface="Arial MT"/>
              </a:rPr>
              <a:t> </a:t>
            </a:r>
            <a:r>
              <a:rPr lang="en-US" sz="1800" b="1">
                <a:effectLst/>
                <a:latin typeface="Arial" panose="020B0604020202020204" pitchFamily="34" charset="0"/>
                <a:ea typeface="Arial MT"/>
              </a:rPr>
              <a:t>program</a:t>
            </a:r>
            <a:r>
              <a:rPr lang="en-US" sz="1800" b="1" spc="-10">
                <a:effectLst/>
                <a:latin typeface="Arial" panose="020B0604020202020204" pitchFamily="34" charset="0"/>
                <a:ea typeface="Arial MT"/>
              </a:rPr>
              <a:t> </a:t>
            </a:r>
            <a:r>
              <a:rPr lang="en-US" sz="1800" b="1">
                <a:effectLst/>
                <a:latin typeface="Arial" panose="020B0604020202020204" pitchFamily="34" charset="0"/>
                <a:ea typeface="Arial MT"/>
              </a:rPr>
              <a:t>and</a:t>
            </a:r>
            <a:r>
              <a:rPr lang="en-US" sz="1800" b="1" spc="-5">
                <a:effectLst/>
                <a:latin typeface="Arial" panose="020B0604020202020204" pitchFamily="34" charset="0"/>
                <a:ea typeface="Arial MT"/>
              </a:rPr>
              <a:t> </a:t>
            </a:r>
            <a:r>
              <a:rPr lang="en-US" sz="1800" b="1">
                <a:effectLst/>
                <a:latin typeface="Arial" panose="020B0604020202020204" pitchFamily="34" charset="0"/>
                <a:ea typeface="Arial MT"/>
              </a:rPr>
              <a:t>its</a:t>
            </a:r>
            <a:r>
              <a:rPr lang="en-US" sz="1800" b="1" spc="-5">
                <a:effectLst/>
                <a:latin typeface="Arial" panose="020B0604020202020204" pitchFamily="34" charset="0"/>
                <a:ea typeface="Arial MT"/>
              </a:rPr>
              <a:t> </a:t>
            </a:r>
            <a:r>
              <a:rPr lang="en-US" sz="1800" b="1">
                <a:effectLst/>
                <a:latin typeface="Arial" panose="020B0604020202020204" pitchFamily="34" charset="0"/>
                <a:ea typeface="Arial MT"/>
              </a:rPr>
              <a:t>outcomes.  The speaker will introduce himself in brief</a:t>
            </a:r>
            <a:endParaRPr lang="en-US" b="1">
              <a:latin typeface="Calibri"/>
              <a:cs typeface="Calibri"/>
            </a:endParaRPr>
          </a:p>
        </p:txBody>
      </p:sp>
      <p:sp>
        <p:nvSpPr>
          <p:cNvPr id="4" name="Slide Number Placeholder 3"/>
          <p:cNvSpPr>
            <a:spLocks noGrp="1"/>
          </p:cNvSpPr>
          <p:nvPr>
            <p:ph type="sldNum"/>
          </p:nvPr>
        </p:nvSpPr>
        <p:spPr/>
        <p:txBody>
          <a:bodyPr/>
          <a:lstStyle/>
          <a:p>
            <a:pPr algn="r"/>
            <a:fld id="{023E65BA-FB28-47C4-A217-44F00343302E}" type="slidenum">
              <a:rPr lang="en-US" sz="1400" b="0" strike="noStrike" spc="-1">
                <a:latin typeface="Times New Roman"/>
              </a:rPr>
              <a:pPr algn="r"/>
              <a:t>3</a:t>
            </a:fld>
            <a:endParaRPr lang="en-US" sz="1400" b="0" strike="noStrike" spc="-1">
              <a:latin typeface="Times New Roman"/>
            </a:endParaRPr>
          </a:p>
        </p:txBody>
      </p:sp>
    </p:spTree>
    <p:extLst>
      <p:ext uri="{BB962C8B-B14F-4D97-AF65-F5344CB8AC3E}">
        <p14:creationId xmlns:p14="http://schemas.microsoft.com/office/powerpoint/2010/main" xmlns="" val="13818717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r>
              <a:rPr lang="en-US" b="1"/>
              <a:t>This slide, The speaker will talk about the content that we will be covering in this session as follows: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IN" sz="1800" b="1" i="0" u="none" strike="noStrike">
                <a:solidFill>
                  <a:srgbClr val="000000"/>
                </a:solidFill>
                <a:effectLst/>
                <a:latin typeface="Aptos Narrow" panose="020B0004020202020204" pitchFamily="34" charset="0"/>
              </a:rPr>
              <a:t>Introduction</a:t>
            </a:r>
          </a:p>
          <a:p>
            <a:pPr marL="285750" marR="0" lvl="0" indent="-2857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800" b="0">
                <a:solidFill>
                  <a:srgbClr val="003399"/>
                </a:solidFill>
                <a:latin typeface="Arial" panose="020B0604020202020204" pitchFamily="34" charset="0"/>
                <a:cs typeface="Arial" panose="020B0604020202020204" pitchFamily="34" charset="0"/>
              </a:rPr>
              <a:t>Importance of UI/UX in industry</a:t>
            </a:r>
            <a:endParaRPr lang="en-IN" sz="1800" b="0" i="0" u="none" strike="noStrike">
              <a:solidFill>
                <a:srgbClr val="000000"/>
              </a:solidFill>
              <a:effectLst/>
              <a:latin typeface="Aptos Narrow" panose="020B0004020202020204" pitchFamily="34" charset="0"/>
            </a:endParaRP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History and Definitions of UI and UX</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Key Differences between UI/UX</a:t>
            </a:r>
          </a:p>
          <a:p>
            <a:pPr marL="285750" marR="0" lvl="0" indent="-2857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IN" sz="1800" b="0" i="0" u="none" strike="noStrike">
                <a:solidFill>
                  <a:srgbClr val="000000"/>
                </a:solidFill>
                <a:effectLst/>
                <a:latin typeface="Aptos Narrow" panose="020B0004020202020204" pitchFamily="34" charset="0"/>
              </a:rPr>
              <a:t>Use Cases</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Significance in Web Development</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Use Cases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IN" sz="1800" b="1" i="0" u="none" strike="noStrike">
                <a:solidFill>
                  <a:srgbClr val="000000"/>
                </a:solidFill>
                <a:effectLst/>
                <a:latin typeface="Aptos Narrow" panose="020B0004020202020204" pitchFamily="34" charset="0"/>
              </a:rPr>
              <a:t>Visual Design Principles</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Design process</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err="1">
                <a:solidFill>
                  <a:srgbClr val="000000"/>
                </a:solidFill>
                <a:effectLst/>
                <a:latin typeface="Aptos Narrow" panose="020B0004020202020204" pitchFamily="34" charset="0"/>
              </a:rPr>
              <a:t>Color</a:t>
            </a:r>
            <a:r>
              <a:rPr lang="en-IN" sz="1800" b="0" i="0" u="none" strike="noStrike">
                <a:solidFill>
                  <a:srgbClr val="000000"/>
                </a:solidFill>
                <a:effectLst/>
                <a:latin typeface="Aptos Narrow" panose="020B0004020202020204" pitchFamily="34" charset="0"/>
              </a:rPr>
              <a:t> theory and psychology</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Typography and readability</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Layout and Spacing</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Responsive design basics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IN" sz="1800" b="1" i="0" u="none" strike="noStrike">
                <a:solidFill>
                  <a:srgbClr val="000000"/>
                </a:solidFill>
                <a:effectLst/>
                <a:latin typeface="Aptos Narrow" panose="020B0004020202020204" pitchFamily="34" charset="0"/>
              </a:rPr>
              <a:t>Usability and Accessibility</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Usability Aspects</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Web Content Accessibility Guidelines (WCAG)</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Inclusive design practices</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Consistency</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IN" sz="1800" b="1" i="0" u="none" strike="noStrike">
                <a:solidFill>
                  <a:srgbClr val="000000"/>
                </a:solidFill>
                <a:effectLst/>
                <a:latin typeface="Aptos Narrow" panose="020B0004020202020204" pitchFamily="34" charset="0"/>
              </a:rPr>
              <a:t>User Experience</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User-</a:t>
            </a:r>
            <a:r>
              <a:rPr lang="en-IN" sz="1800" b="0" i="0" u="none" strike="noStrike" err="1">
                <a:solidFill>
                  <a:srgbClr val="000000"/>
                </a:solidFill>
                <a:effectLst/>
                <a:latin typeface="Aptos Narrow" panose="020B0004020202020204" pitchFamily="34" charset="0"/>
              </a:rPr>
              <a:t>Centered</a:t>
            </a:r>
            <a:r>
              <a:rPr lang="en-IN" sz="1800" b="0" i="0" u="none" strike="noStrike">
                <a:solidFill>
                  <a:srgbClr val="000000"/>
                </a:solidFill>
                <a:effectLst/>
                <a:latin typeface="Aptos Narrow" panose="020B0004020202020204" pitchFamily="34" charset="0"/>
              </a:rPr>
              <a:t> Design</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User research methods</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Interactive Elements and Feedback</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IN" sz="1800" b="1" i="0" u="none" strike="noStrike">
                <a:solidFill>
                  <a:srgbClr val="000000"/>
                </a:solidFill>
                <a:effectLst/>
                <a:latin typeface="Aptos Narrow" panose="020B0004020202020204" pitchFamily="34" charset="0"/>
              </a:rPr>
              <a:t>Mini Case Study</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Discussing a popular UI/UX design</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IN" sz="1800" b="1" i="0" u="none" strike="noStrike">
                <a:solidFill>
                  <a:srgbClr val="000000"/>
                </a:solidFill>
                <a:effectLst/>
                <a:latin typeface="Aptos Narrow" panose="020B0004020202020204" pitchFamily="34" charset="0"/>
              </a:rPr>
              <a:t>Hands-On</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Introduction to Figma for UI/UX design</a:t>
            </a:r>
            <a:endParaRPr lang="en-IN"/>
          </a:p>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xmlns="" val="30811687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xmlns="" id="{D76A3C39-E505-849D-072B-5A72E5B2A9C5}"/>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xmlns="" id="{4CA75921-0A6B-4147-FFE3-27787B5DA47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r>
              <a:rPr lang="en-US" b="1"/>
              <a:t>This slide, The speaker will talk about the content that we will be covering in this session as follows: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IN" sz="1800" b="1" i="0" u="none" strike="noStrike">
                <a:solidFill>
                  <a:srgbClr val="000000"/>
                </a:solidFill>
                <a:effectLst/>
                <a:latin typeface="Aptos Narrow" panose="020B0004020202020204" pitchFamily="34" charset="0"/>
              </a:rPr>
              <a:t>Introduction</a:t>
            </a:r>
          </a:p>
          <a:p>
            <a:pPr marL="285750" marR="0" lvl="0" indent="-2857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800" b="0">
                <a:solidFill>
                  <a:srgbClr val="003399"/>
                </a:solidFill>
                <a:latin typeface="Arial" panose="020B0604020202020204" pitchFamily="34" charset="0"/>
                <a:cs typeface="Arial" panose="020B0604020202020204" pitchFamily="34" charset="0"/>
              </a:rPr>
              <a:t>Importance of UI/UX in industry</a:t>
            </a:r>
            <a:endParaRPr lang="en-IN" sz="1800" b="0" i="0" u="none" strike="noStrike">
              <a:solidFill>
                <a:srgbClr val="000000"/>
              </a:solidFill>
              <a:effectLst/>
              <a:latin typeface="Aptos Narrow" panose="020B0004020202020204" pitchFamily="34" charset="0"/>
            </a:endParaRP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History and Definitions of UI and UX</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Key Differences between UI/UX</a:t>
            </a:r>
          </a:p>
          <a:p>
            <a:pPr marL="285750" marR="0" lvl="0" indent="-2857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IN" sz="1800" b="0" i="0" u="none" strike="noStrike">
                <a:solidFill>
                  <a:srgbClr val="000000"/>
                </a:solidFill>
                <a:effectLst/>
                <a:latin typeface="Aptos Narrow" panose="020B0004020202020204" pitchFamily="34" charset="0"/>
              </a:rPr>
              <a:t>Use Cases</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Significance in Web Development</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Use Cases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IN" sz="1800" b="1" i="0" u="none" strike="noStrike">
                <a:solidFill>
                  <a:srgbClr val="000000"/>
                </a:solidFill>
                <a:effectLst/>
                <a:latin typeface="Aptos Narrow" panose="020B0004020202020204" pitchFamily="34" charset="0"/>
              </a:rPr>
              <a:t>Visual Design Principles</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Design process</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err="1">
                <a:solidFill>
                  <a:srgbClr val="000000"/>
                </a:solidFill>
                <a:effectLst/>
                <a:latin typeface="Aptos Narrow" panose="020B0004020202020204" pitchFamily="34" charset="0"/>
              </a:rPr>
              <a:t>Color</a:t>
            </a:r>
            <a:r>
              <a:rPr lang="en-IN" sz="1800" b="0" i="0" u="none" strike="noStrike">
                <a:solidFill>
                  <a:srgbClr val="000000"/>
                </a:solidFill>
                <a:effectLst/>
                <a:latin typeface="Aptos Narrow" panose="020B0004020202020204" pitchFamily="34" charset="0"/>
              </a:rPr>
              <a:t> theory and psychology</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Typography and readability</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Layout and Spacing</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Responsive design basics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IN" sz="1800" b="1" i="0" u="none" strike="noStrike">
                <a:solidFill>
                  <a:srgbClr val="000000"/>
                </a:solidFill>
                <a:effectLst/>
                <a:latin typeface="Aptos Narrow" panose="020B0004020202020204" pitchFamily="34" charset="0"/>
              </a:rPr>
              <a:t>Usability and Accessibility</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Usability Aspects</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Web Content Accessibility Guidelines (WCAG)</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Inclusive design practices</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Consistency</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IN" sz="1800" b="1" i="0" u="none" strike="noStrike">
                <a:solidFill>
                  <a:srgbClr val="000000"/>
                </a:solidFill>
                <a:effectLst/>
                <a:latin typeface="Aptos Narrow" panose="020B0004020202020204" pitchFamily="34" charset="0"/>
              </a:rPr>
              <a:t>User Experience</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User-</a:t>
            </a:r>
            <a:r>
              <a:rPr lang="en-IN" sz="1800" b="0" i="0" u="none" strike="noStrike" err="1">
                <a:solidFill>
                  <a:srgbClr val="000000"/>
                </a:solidFill>
                <a:effectLst/>
                <a:latin typeface="Aptos Narrow" panose="020B0004020202020204" pitchFamily="34" charset="0"/>
              </a:rPr>
              <a:t>Centered</a:t>
            </a:r>
            <a:r>
              <a:rPr lang="en-IN" sz="1800" b="0" i="0" u="none" strike="noStrike">
                <a:solidFill>
                  <a:srgbClr val="000000"/>
                </a:solidFill>
                <a:effectLst/>
                <a:latin typeface="Aptos Narrow" panose="020B0004020202020204" pitchFamily="34" charset="0"/>
              </a:rPr>
              <a:t> Design</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User research methods</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Interactive Elements and Feedback</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IN" sz="1800" b="1" i="0" u="none" strike="noStrike">
                <a:solidFill>
                  <a:srgbClr val="000000"/>
                </a:solidFill>
                <a:effectLst/>
                <a:latin typeface="Aptos Narrow" panose="020B0004020202020204" pitchFamily="34" charset="0"/>
              </a:rPr>
              <a:t>Mini Case Study</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Discussing a popular UI/UX design</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IN" sz="1800" b="1" i="0" u="none" strike="noStrike">
                <a:solidFill>
                  <a:srgbClr val="000000"/>
                </a:solidFill>
                <a:effectLst/>
                <a:latin typeface="Aptos Narrow" panose="020B0004020202020204" pitchFamily="34" charset="0"/>
              </a:rPr>
              <a:t>Hands-On</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Introduction to Figma for UI/UX design</a:t>
            </a:r>
            <a:endParaRPr lang="en-IN"/>
          </a:p>
          <a:p>
            <a:pPr marL="0" indent="0">
              <a:buNone/>
            </a:pPr>
            <a:endParaRPr lang="en-US" b="1"/>
          </a:p>
        </p:txBody>
      </p:sp>
      <p:sp>
        <p:nvSpPr>
          <p:cNvPr id="59" name="Google Shape;59;g5fab984687_2_0:notes">
            <a:extLst>
              <a:ext uri="{FF2B5EF4-FFF2-40B4-BE49-F238E27FC236}">
                <a16:creationId xmlns:a16="http://schemas.microsoft.com/office/drawing/2014/main" xmlns="" id="{F44E0A6D-AE05-66D4-3151-9ADBBF8171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xmlns="" val="6823524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xmlns="" id="{96C44822-50A8-D7AC-67E4-DAD0C868AB50}"/>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xmlns="" id="{647B1771-03FF-2C8B-AD85-EE25D2FFBCB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r>
              <a:rPr lang="en-US" b="1"/>
              <a:t>This slide, The speaker will talk about the content that we will be covering in this session as follows: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IN" sz="1800" b="1" i="0" u="none" strike="noStrike">
                <a:solidFill>
                  <a:srgbClr val="000000"/>
                </a:solidFill>
                <a:effectLst/>
                <a:latin typeface="Aptos Narrow" panose="020B0004020202020204" pitchFamily="34" charset="0"/>
              </a:rPr>
              <a:t>Introduction</a:t>
            </a:r>
          </a:p>
          <a:p>
            <a:pPr marL="285750" marR="0" lvl="0" indent="-2857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800" b="0">
                <a:solidFill>
                  <a:srgbClr val="003399"/>
                </a:solidFill>
                <a:latin typeface="Arial" panose="020B0604020202020204" pitchFamily="34" charset="0"/>
                <a:cs typeface="Arial" panose="020B0604020202020204" pitchFamily="34" charset="0"/>
              </a:rPr>
              <a:t>Importance of UI/UX in industry</a:t>
            </a:r>
            <a:endParaRPr lang="en-IN" sz="1800" b="0" i="0" u="none" strike="noStrike">
              <a:solidFill>
                <a:srgbClr val="000000"/>
              </a:solidFill>
              <a:effectLst/>
              <a:latin typeface="Aptos Narrow" panose="020B0004020202020204" pitchFamily="34" charset="0"/>
            </a:endParaRP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History and Definitions of UI and UX</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Key Differences between UI/UX</a:t>
            </a:r>
          </a:p>
          <a:p>
            <a:pPr marL="285750" marR="0" lvl="0" indent="-2857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IN" sz="1800" b="0" i="0" u="none" strike="noStrike">
                <a:solidFill>
                  <a:srgbClr val="000000"/>
                </a:solidFill>
                <a:effectLst/>
                <a:latin typeface="Aptos Narrow" panose="020B0004020202020204" pitchFamily="34" charset="0"/>
              </a:rPr>
              <a:t>Use Cases</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Significance in Web Development</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Use Cases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IN" sz="1800" b="1" i="0" u="none" strike="noStrike">
                <a:solidFill>
                  <a:srgbClr val="000000"/>
                </a:solidFill>
                <a:effectLst/>
                <a:latin typeface="Aptos Narrow" panose="020B0004020202020204" pitchFamily="34" charset="0"/>
              </a:rPr>
              <a:t>Visual Design Principles</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Design process</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err="1">
                <a:solidFill>
                  <a:srgbClr val="000000"/>
                </a:solidFill>
                <a:effectLst/>
                <a:latin typeface="Aptos Narrow" panose="020B0004020202020204" pitchFamily="34" charset="0"/>
              </a:rPr>
              <a:t>Color</a:t>
            </a:r>
            <a:r>
              <a:rPr lang="en-IN" sz="1800" b="0" i="0" u="none" strike="noStrike">
                <a:solidFill>
                  <a:srgbClr val="000000"/>
                </a:solidFill>
                <a:effectLst/>
                <a:latin typeface="Aptos Narrow" panose="020B0004020202020204" pitchFamily="34" charset="0"/>
              </a:rPr>
              <a:t> theory and psychology</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Typography and readability</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Layout and Spacing</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Responsive design basics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IN" sz="1800" b="1" i="0" u="none" strike="noStrike">
                <a:solidFill>
                  <a:srgbClr val="000000"/>
                </a:solidFill>
                <a:effectLst/>
                <a:latin typeface="Aptos Narrow" panose="020B0004020202020204" pitchFamily="34" charset="0"/>
              </a:rPr>
              <a:t>Usability and Accessibility</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Usability Aspects</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Web Content Accessibility Guidelines (WCAG)</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Inclusive design practices</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Consistency</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IN" sz="1800" b="1" i="0" u="none" strike="noStrike">
                <a:solidFill>
                  <a:srgbClr val="000000"/>
                </a:solidFill>
                <a:effectLst/>
                <a:latin typeface="Aptos Narrow" panose="020B0004020202020204" pitchFamily="34" charset="0"/>
              </a:rPr>
              <a:t>User Experience</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User-</a:t>
            </a:r>
            <a:r>
              <a:rPr lang="en-IN" sz="1800" b="0" i="0" u="none" strike="noStrike" err="1">
                <a:solidFill>
                  <a:srgbClr val="000000"/>
                </a:solidFill>
                <a:effectLst/>
                <a:latin typeface="Aptos Narrow" panose="020B0004020202020204" pitchFamily="34" charset="0"/>
              </a:rPr>
              <a:t>Centered</a:t>
            </a:r>
            <a:r>
              <a:rPr lang="en-IN" sz="1800" b="0" i="0" u="none" strike="noStrike">
                <a:solidFill>
                  <a:srgbClr val="000000"/>
                </a:solidFill>
                <a:effectLst/>
                <a:latin typeface="Aptos Narrow" panose="020B0004020202020204" pitchFamily="34" charset="0"/>
              </a:rPr>
              <a:t> Design</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User research methods</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Interactive Elements and Feedback</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IN" sz="1800" b="1" i="0" u="none" strike="noStrike">
                <a:solidFill>
                  <a:srgbClr val="000000"/>
                </a:solidFill>
                <a:effectLst/>
                <a:latin typeface="Aptos Narrow" panose="020B0004020202020204" pitchFamily="34" charset="0"/>
              </a:rPr>
              <a:t>Mini Case Study</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Discussing a popular UI/UX design</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IN" sz="1800" b="1" i="0" u="none" strike="noStrike">
                <a:solidFill>
                  <a:srgbClr val="000000"/>
                </a:solidFill>
                <a:effectLst/>
                <a:latin typeface="Aptos Narrow" panose="020B0004020202020204" pitchFamily="34" charset="0"/>
              </a:rPr>
              <a:t>Hands-On</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Introduction to Figma for UI/UX design</a:t>
            </a:r>
            <a:endParaRPr lang="en-IN"/>
          </a:p>
          <a:p>
            <a:pPr marL="0" indent="0">
              <a:buNone/>
            </a:pPr>
            <a:endParaRPr lang="en-US" b="1"/>
          </a:p>
        </p:txBody>
      </p:sp>
      <p:sp>
        <p:nvSpPr>
          <p:cNvPr id="59" name="Google Shape;59;g5fab984687_2_0:notes">
            <a:extLst>
              <a:ext uri="{FF2B5EF4-FFF2-40B4-BE49-F238E27FC236}">
                <a16:creationId xmlns:a16="http://schemas.microsoft.com/office/drawing/2014/main" xmlns="" id="{AE6A0670-8625-D4F2-4EAB-5B20C42D16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xmlns="" val="8280751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xmlns="" id="{96C44822-50A8-D7AC-67E4-DAD0C868AB50}"/>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xmlns="" id="{647B1771-03FF-2C8B-AD85-EE25D2FFBCB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r>
              <a:rPr lang="en-US" b="1"/>
              <a:t>This slide, The speaker will talk about the content that we will be covering in this session as follows: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IN" sz="1800" b="1" i="0" u="none" strike="noStrike">
                <a:solidFill>
                  <a:srgbClr val="000000"/>
                </a:solidFill>
                <a:effectLst/>
                <a:latin typeface="Aptos Narrow" panose="020B0004020202020204" pitchFamily="34" charset="0"/>
              </a:rPr>
              <a:t>Introduction</a:t>
            </a:r>
          </a:p>
          <a:p>
            <a:pPr marL="285750" marR="0" lvl="0" indent="-2857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800" b="0">
                <a:solidFill>
                  <a:srgbClr val="003399"/>
                </a:solidFill>
                <a:latin typeface="Arial" panose="020B0604020202020204" pitchFamily="34" charset="0"/>
                <a:cs typeface="Arial" panose="020B0604020202020204" pitchFamily="34" charset="0"/>
              </a:rPr>
              <a:t>Importance of UI/UX in industry</a:t>
            </a:r>
            <a:endParaRPr lang="en-IN" sz="1800" b="0" i="0" u="none" strike="noStrike">
              <a:solidFill>
                <a:srgbClr val="000000"/>
              </a:solidFill>
              <a:effectLst/>
              <a:latin typeface="Aptos Narrow" panose="020B0004020202020204" pitchFamily="34" charset="0"/>
            </a:endParaRP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History and Definitions of UI and UX</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Key Differences between UI/UX</a:t>
            </a:r>
          </a:p>
          <a:p>
            <a:pPr marL="285750" marR="0" lvl="0" indent="-2857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IN" sz="1800" b="0" i="0" u="none" strike="noStrike">
                <a:solidFill>
                  <a:srgbClr val="000000"/>
                </a:solidFill>
                <a:effectLst/>
                <a:latin typeface="Aptos Narrow" panose="020B0004020202020204" pitchFamily="34" charset="0"/>
              </a:rPr>
              <a:t>Use Cases</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Significance in Web Development</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Use Cases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IN" sz="1800" b="1" i="0" u="none" strike="noStrike">
                <a:solidFill>
                  <a:srgbClr val="000000"/>
                </a:solidFill>
                <a:effectLst/>
                <a:latin typeface="Aptos Narrow" panose="020B0004020202020204" pitchFamily="34" charset="0"/>
              </a:rPr>
              <a:t>Visual Design Principles</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Design process</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err="1">
                <a:solidFill>
                  <a:srgbClr val="000000"/>
                </a:solidFill>
                <a:effectLst/>
                <a:latin typeface="Aptos Narrow" panose="020B0004020202020204" pitchFamily="34" charset="0"/>
              </a:rPr>
              <a:t>Color</a:t>
            </a:r>
            <a:r>
              <a:rPr lang="en-IN" sz="1800" b="0" i="0" u="none" strike="noStrike">
                <a:solidFill>
                  <a:srgbClr val="000000"/>
                </a:solidFill>
                <a:effectLst/>
                <a:latin typeface="Aptos Narrow" panose="020B0004020202020204" pitchFamily="34" charset="0"/>
              </a:rPr>
              <a:t> theory and psychology</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Typography and readability</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Layout and Spacing</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Responsive design basics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IN" sz="1800" b="1" i="0" u="none" strike="noStrike">
                <a:solidFill>
                  <a:srgbClr val="000000"/>
                </a:solidFill>
                <a:effectLst/>
                <a:latin typeface="Aptos Narrow" panose="020B0004020202020204" pitchFamily="34" charset="0"/>
              </a:rPr>
              <a:t>Usability and Accessibility</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Usability Aspects</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Web Content Accessibility Guidelines (WCAG)</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Inclusive design practices</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Consistency</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IN" sz="1800" b="1" i="0" u="none" strike="noStrike">
                <a:solidFill>
                  <a:srgbClr val="000000"/>
                </a:solidFill>
                <a:effectLst/>
                <a:latin typeface="Aptos Narrow" panose="020B0004020202020204" pitchFamily="34" charset="0"/>
              </a:rPr>
              <a:t>User Experience</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User-</a:t>
            </a:r>
            <a:r>
              <a:rPr lang="en-IN" sz="1800" b="0" i="0" u="none" strike="noStrike" err="1">
                <a:solidFill>
                  <a:srgbClr val="000000"/>
                </a:solidFill>
                <a:effectLst/>
                <a:latin typeface="Aptos Narrow" panose="020B0004020202020204" pitchFamily="34" charset="0"/>
              </a:rPr>
              <a:t>Centered</a:t>
            </a:r>
            <a:r>
              <a:rPr lang="en-IN" sz="1800" b="0" i="0" u="none" strike="noStrike">
                <a:solidFill>
                  <a:srgbClr val="000000"/>
                </a:solidFill>
                <a:effectLst/>
                <a:latin typeface="Aptos Narrow" panose="020B0004020202020204" pitchFamily="34" charset="0"/>
              </a:rPr>
              <a:t> Design</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User research methods</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Interactive Elements and Feedback</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IN" sz="1800" b="1" i="0" u="none" strike="noStrike">
                <a:solidFill>
                  <a:srgbClr val="000000"/>
                </a:solidFill>
                <a:effectLst/>
                <a:latin typeface="Aptos Narrow" panose="020B0004020202020204" pitchFamily="34" charset="0"/>
              </a:rPr>
              <a:t>Mini Case Study</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Discussing a popular UI/UX design</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IN" sz="1800" b="1" i="0" u="none" strike="noStrike">
                <a:solidFill>
                  <a:srgbClr val="000000"/>
                </a:solidFill>
                <a:effectLst/>
                <a:latin typeface="Aptos Narrow" panose="020B0004020202020204" pitchFamily="34" charset="0"/>
              </a:rPr>
              <a:t>Hands-On</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Introduction to Figma for UI/UX design</a:t>
            </a:r>
            <a:endParaRPr lang="en-IN"/>
          </a:p>
          <a:p>
            <a:pPr marL="0" indent="0">
              <a:buNone/>
            </a:pPr>
            <a:endParaRPr lang="en-US" b="1"/>
          </a:p>
        </p:txBody>
      </p:sp>
      <p:sp>
        <p:nvSpPr>
          <p:cNvPr id="59" name="Google Shape;59;g5fab984687_2_0:notes">
            <a:extLst>
              <a:ext uri="{FF2B5EF4-FFF2-40B4-BE49-F238E27FC236}">
                <a16:creationId xmlns:a16="http://schemas.microsoft.com/office/drawing/2014/main" xmlns="" id="{AE6A0670-8625-D4F2-4EAB-5B20C42D16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xmlns="" val="8280751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xmlns="" id="{6E1FC1B1-B44F-F795-8CE0-8A1E5FA39022}"/>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xmlns="" id="{06FCACB7-6330-511A-DC41-2FCC5B2862F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r>
              <a:rPr lang="en-US" b="1"/>
              <a:t>This slide, The speaker will talk about the content that we will be covering in this session as follows: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IN" sz="1800" b="1" i="0" u="none" strike="noStrike">
                <a:solidFill>
                  <a:srgbClr val="000000"/>
                </a:solidFill>
                <a:effectLst/>
                <a:latin typeface="Aptos Narrow" panose="020B0004020202020204" pitchFamily="34" charset="0"/>
              </a:rPr>
              <a:t>Introduction</a:t>
            </a:r>
          </a:p>
          <a:p>
            <a:pPr marL="285750" marR="0" lvl="0" indent="-2857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800" b="0">
                <a:solidFill>
                  <a:srgbClr val="003399"/>
                </a:solidFill>
                <a:latin typeface="Arial" panose="020B0604020202020204" pitchFamily="34" charset="0"/>
                <a:cs typeface="Arial" panose="020B0604020202020204" pitchFamily="34" charset="0"/>
              </a:rPr>
              <a:t>Importance of UI/UX in industry</a:t>
            </a:r>
            <a:endParaRPr lang="en-IN" sz="1800" b="0" i="0" u="none" strike="noStrike">
              <a:solidFill>
                <a:srgbClr val="000000"/>
              </a:solidFill>
              <a:effectLst/>
              <a:latin typeface="Aptos Narrow" panose="020B0004020202020204" pitchFamily="34" charset="0"/>
            </a:endParaRP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History and Definitions of UI and UX</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Key Differences between UI/UX</a:t>
            </a:r>
          </a:p>
          <a:p>
            <a:pPr marL="285750" marR="0" lvl="0" indent="-2857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IN" sz="1800" b="0" i="0" u="none" strike="noStrike">
                <a:solidFill>
                  <a:srgbClr val="000000"/>
                </a:solidFill>
                <a:effectLst/>
                <a:latin typeface="Aptos Narrow" panose="020B0004020202020204" pitchFamily="34" charset="0"/>
              </a:rPr>
              <a:t>Use Cases</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Significance in Web Development</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Use Cases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IN" sz="1800" b="1" i="0" u="none" strike="noStrike">
                <a:solidFill>
                  <a:srgbClr val="000000"/>
                </a:solidFill>
                <a:effectLst/>
                <a:latin typeface="Aptos Narrow" panose="020B0004020202020204" pitchFamily="34" charset="0"/>
              </a:rPr>
              <a:t>Visual Design Principles</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Design process</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err="1">
                <a:solidFill>
                  <a:srgbClr val="000000"/>
                </a:solidFill>
                <a:effectLst/>
                <a:latin typeface="Aptos Narrow" panose="020B0004020202020204" pitchFamily="34" charset="0"/>
              </a:rPr>
              <a:t>Color</a:t>
            </a:r>
            <a:r>
              <a:rPr lang="en-IN" sz="1800" b="0" i="0" u="none" strike="noStrike">
                <a:solidFill>
                  <a:srgbClr val="000000"/>
                </a:solidFill>
                <a:effectLst/>
                <a:latin typeface="Aptos Narrow" panose="020B0004020202020204" pitchFamily="34" charset="0"/>
              </a:rPr>
              <a:t> theory and psychology</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Typography and readability</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Layout and Spacing</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Responsive design basics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IN" sz="1800" b="1" i="0" u="none" strike="noStrike">
                <a:solidFill>
                  <a:srgbClr val="000000"/>
                </a:solidFill>
                <a:effectLst/>
                <a:latin typeface="Aptos Narrow" panose="020B0004020202020204" pitchFamily="34" charset="0"/>
              </a:rPr>
              <a:t>Usability and Accessibility</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Usability Aspects</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Web Content Accessibility Guidelines (WCAG)</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Inclusive design practices</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Consistency</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IN" sz="1800" b="1" i="0" u="none" strike="noStrike">
                <a:solidFill>
                  <a:srgbClr val="000000"/>
                </a:solidFill>
                <a:effectLst/>
                <a:latin typeface="Aptos Narrow" panose="020B0004020202020204" pitchFamily="34" charset="0"/>
              </a:rPr>
              <a:t>User Experience</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User-</a:t>
            </a:r>
            <a:r>
              <a:rPr lang="en-IN" sz="1800" b="0" i="0" u="none" strike="noStrike" err="1">
                <a:solidFill>
                  <a:srgbClr val="000000"/>
                </a:solidFill>
                <a:effectLst/>
                <a:latin typeface="Aptos Narrow" panose="020B0004020202020204" pitchFamily="34" charset="0"/>
              </a:rPr>
              <a:t>Centered</a:t>
            </a:r>
            <a:r>
              <a:rPr lang="en-IN" sz="1800" b="0" i="0" u="none" strike="noStrike">
                <a:solidFill>
                  <a:srgbClr val="000000"/>
                </a:solidFill>
                <a:effectLst/>
                <a:latin typeface="Aptos Narrow" panose="020B0004020202020204" pitchFamily="34" charset="0"/>
              </a:rPr>
              <a:t> Design</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User research methods</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Interactive Elements and Feedback</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IN" sz="1800" b="1" i="0" u="none" strike="noStrike">
                <a:solidFill>
                  <a:srgbClr val="000000"/>
                </a:solidFill>
                <a:effectLst/>
                <a:latin typeface="Aptos Narrow" panose="020B0004020202020204" pitchFamily="34" charset="0"/>
              </a:rPr>
              <a:t>Mini Case Study</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Discussing a popular UI/UX design</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IN" sz="1800" b="1" i="0" u="none" strike="noStrike">
                <a:solidFill>
                  <a:srgbClr val="000000"/>
                </a:solidFill>
                <a:effectLst/>
                <a:latin typeface="Aptos Narrow" panose="020B0004020202020204" pitchFamily="34" charset="0"/>
              </a:rPr>
              <a:t>Hands-On</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Introduction to Figma for UI/UX design</a:t>
            </a:r>
            <a:endParaRPr lang="en-IN"/>
          </a:p>
          <a:p>
            <a:pPr marL="0" indent="0">
              <a:buNone/>
            </a:pPr>
            <a:endParaRPr lang="en-US" b="1"/>
          </a:p>
        </p:txBody>
      </p:sp>
      <p:sp>
        <p:nvSpPr>
          <p:cNvPr id="59" name="Google Shape;59;g5fab984687_2_0:notes">
            <a:extLst>
              <a:ext uri="{FF2B5EF4-FFF2-40B4-BE49-F238E27FC236}">
                <a16:creationId xmlns:a16="http://schemas.microsoft.com/office/drawing/2014/main" xmlns="" id="{53B2F108-3E8E-8CB3-D39C-2E5E2EE72A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xmlns="" val="28721537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xmlns="" id="{889DB2EC-5E59-1C9C-B257-47839B4EF3B5}"/>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xmlns="" id="{521CF6DE-F83D-DF02-0EA6-49693349CB2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r>
              <a:rPr lang="en-US" b="1"/>
              <a:t>This slide, The speaker will talk about the content that we will be covering in this session as follows: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IN" sz="1800" b="1" i="0" u="none" strike="noStrike">
                <a:solidFill>
                  <a:srgbClr val="000000"/>
                </a:solidFill>
                <a:effectLst/>
                <a:latin typeface="Aptos Narrow" panose="020B0004020202020204" pitchFamily="34" charset="0"/>
              </a:rPr>
              <a:t>Introduction</a:t>
            </a:r>
          </a:p>
          <a:p>
            <a:pPr marL="285750" marR="0" lvl="0" indent="-2857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800" b="0">
                <a:solidFill>
                  <a:srgbClr val="003399"/>
                </a:solidFill>
                <a:latin typeface="Arial" panose="020B0604020202020204" pitchFamily="34" charset="0"/>
                <a:cs typeface="Arial" panose="020B0604020202020204" pitchFamily="34" charset="0"/>
              </a:rPr>
              <a:t>Importance of UI/UX in industry</a:t>
            </a:r>
            <a:endParaRPr lang="en-IN" sz="1800" b="0" i="0" u="none" strike="noStrike">
              <a:solidFill>
                <a:srgbClr val="000000"/>
              </a:solidFill>
              <a:effectLst/>
              <a:latin typeface="Aptos Narrow" panose="020B0004020202020204" pitchFamily="34" charset="0"/>
            </a:endParaRP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History and Definitions of UI and UX</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Key Differences between UI/UX</a:t>
            </a:r>
          </a:p>
          <a:p>
            <a:pPr marL="285750" marR="0" lvl="0" indent="-2857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IN" sz="1800" b="0" i="0" u="none" strike="noStrike">
                <a:solidFill>
                  <a:srgbClr val="000000"/>
                </a:solidFill>
                <a:effectLst/>
                <a:latin typeface="Aptos Narrow" panose="020B0004020202020204" pitchFamily="34" charset="0"/>
              </a:rPr>
              <a:t>Use Cases</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Significance in Web Development</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Use Cases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IN" sz="1800" b="1" i="0" u="none" strike="noStrike">
                <a:solidFill>
                  <a:srgbClr val="000000"/>
                </a:solidFill>
                <a:effectLst/>
                <a:latin typeface="Aptos Narrow" panose="020B0004020202020204" pitchFamily="34" charset="0"/>
              </a:rPr>
              <a:t>Visual Design Principles</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Design process</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err="1">
                <a:solidFill>
                  <a:srgbClr val="000000"/>
                </a:solidFill>
                <a:effectLst/>
                <a:latin typeface="Aptos Narrow" panose="020B0004020202020204" pitchFamily="34" charset="0"/>
              </a:rPr>
              <a:t>Color</a:t>
            </a:r>
            <a:r>
              <a:rPr lang="en-IN" sz="1800" b="0" i="0" u="none" strike="noStrike">
                <a:solidFill>
                  <a:srgbClr val="000000"/>
                </a:solidFill>
                <a:effectLst/>
                <a:latin typeface="Aptos Narrow" panose="020B0004020202020204" pitchFamily="34" charset="0"/>
              </a:rPr>
              <a:t> theory and psychology</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Typography and readability</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Layout and Spacing</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Responsive design basics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IN" sz="1800" b="1" i="0" u="none" strike="noStrike">
                <a:solidFill>
                  <a:srgbClr val="000000"/>
                </a:solidFill>
                <a:effectLst/>
                <a:latin typeface="Aptos Narrow" panose="020B0004020202020204" pitchFamily="34" charset="0"/>
              </a:rPr>
              <a:t>Usability and Accessibility</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Usability Aspects</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Web Content Accessibility Guidelines (WCAG)</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Inclusive design practices</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Consistency</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IN" sz="1800" b="1" i="0" u="none" strike="noStrike">
                <a:solidFill>
                  <a:srgbClr val="000000"/>
                </a:solidFill>
                <a:effectLst/>
                <a:latin typeface="Aptos Narrow" panose="020B0004020202020204" pitchFamily="34" charset="0"/>
              </a:rPr>
              <a:t>User Experience</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User-</a:t>
            </a:r>
            <a:r>
              <a:rPr lang="en-IN" sz="1800" b="0" i="0" u="none" strike="noStrike" err="1">
                <a:solidFill>
                  <a:srgbClr val="000000"/>
                </a:solidFill>
                <a:effectLst/>
                <a:latin typeface="Aptos Narrow" panose="020B0004020202020204" pitchFamily="34" charset="0"/>
              </a:rPr>
              <a:t>Centered</a:t>
            </a:r>
            <a:r>
              <a:rPr lang="en-IN" sz="1800" b="0" i="0" u="none" strike="noStrike">
                <a:solidFill>
                  <a:srgbClr val="000000"/>
                </a:solidFill>
                <a:effectLst/>
                <a:latin typeface="Aptos Narrow" panose="020B0004020202020204" pitchFamily="34" charset="0"/>
              </a:rPr>
              <a:t> Design</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User research methods</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Interactive Elements and Feedback</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IN" sz="1800" b="1" i="0" u="none" strike="noStrike">
                <a:solidFill>
                  <a:srgbClr val="000000"/>
                </a:solidFill>
                <a:effectLst/>
                <a:latin typeface="Aptos Narrow" panose="020B0004020202020204" pitchFamily="34" charset="0"/>
              </a:rPr>
              <a:t>Mini Case Study</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Discussing a popular UI/UX design</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IN" sz="1800" b="1" i="0" u="none" strike="noStrike">
                <a:solidFill>
                  <a:srgbClr val="000000"/>
                </a:solidFill>
                <a:effectLst/>
                <a:latin typeface="Aptos Narrow" panose="020B0004020202020204" pitchFamily="34" charset="0"/>
              </a:rPr>
              <a:t>Hands-On</a:t>
            </a:r>
          </a:p>
          <a:p>
            <a:pPr marL="285750" marR="0" lvl="0" indent="-285750" algn="l" defTabSz="914400" rtl="0" eaLnBrk="1" fontAlgn="auto" latinLnBrk="0" hangingPunct="1">
              <a:lnSpc>
                <a:spcPct val="100000"/>
              </a:lnSpc>
              <a:spcBef>
                <a:spcPts val="0"/>
              </a:spcBef>
              <a:spcAft>
                <a:spcPts val="0"/>
              </a:spcAft>
              <a:buClr>
                <a:srgbClr val="000000"/>
              </a:buClr>
              <a:buSzPts val="1100"/>
              <a:tabLst/>
              <a:defRPr/>
            </a:pPr>
            <a:r>
              <a:rPr lang="en-IN" sz="1800" b="0" i="0" u="none" strike="noStrike">
                <a:solidFill>
                  <a:srgbClr val="000000"/>
                </a:solidFill>
                <a:effectLst/>
                <a:latin typeface="Aptos Narrow" panose="020B0004020202020204" pitchFamily="34" charset="0"/>
              </a:rPr>
              <a:t>Introduction to Figma for UI/UX design</a:t>
            </a:r>
            <a:endParaRPr lang="en-IN"/>
          </a:p>
          <a:p>
            <a:pPr marL="0" indent="0">
              <a:buNone/>
            </a:pPr>
            <a:endParaRPr lang="en-US" b="1"/>
          </a:p>
        </p:txBody>
      </p:sp>
      <p:sp>
        <p:nvSpPr>
          <p:cNvPr id="59" name="Google Shape;59;g5fab984687_2_0:notes">
            <a:extLst>
              <a:ext uri="{FF2B5EF4-FFF2-40B4-BE49-F238E27FC236}">
                <a16:creationId xmlns:a16="http://schemas.microsoft.com/office/drawing/2014/main" xmlns="" id="{8D50153A-7825-FF11-BF01-858C984731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xmlns="" val="23403075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82341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xmlns="" val="27718775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8255473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xmlns="" id="{CE849A3B-BCF0-B774-F89E-81965C71F93E}"/>
              </a:ext>
            </a:extLst>
          </p:cNvPr>
          <p:cNvPicPr preferRelativeResize="0"/>
          <p:nvPr userDrawn="1"/>
        </p:nvPicPr>
        <p:blipFill rotWithShape="1">
          <a:blip r:embed="rId5">
            <a:alphaModFix/>
          </a:blip>
          <a:srcRect/>
          <a:stretch/>
        </p:blipFill>
        <p:spPr>
          <a:xfrm>
            <a:off x="10297814" y="126596"/>
            <a:ext cx="1748776" cy="584604"/>
          </a:xfrm>
          <a:prstGeom prst="rect">
            <a:avLst/>
          </a:prstGeom>
          <a:noFill/>
          <a:ln>
            <a:noFill/>
          </a:ln>
        </p:spPr>
      </p:pic>
      <p:pic>
        <p:nvPicPr>
          <p:cNvPr id="7" name="Picture 6" descr="A black background with a red and blue line&#10;&#10;Description automatically generated">
            <a:extLst>
              <a:ext uri="{FF2B5EF4-FFF2-40B4-BE49-F238E27FC236}">
                <a16:creationId xmlns:a16="http://schemas.microsoft.com/office/drawing/2014/main" xmlns="" id="{9CA50098-7D03-1836-41AA-E168C007D2CC}"/>
              </a:ext>
            </a:extLst>
          </p:cNvPr>
          <p:cNvPicPr>
            <a:picLocks noChangeAspect="1"/>
          </p:cNvPicPr>
          <p:nvPr userDrawn="1"/>
        </p:nvPicPr>
        <p:blipFill rotWithShape="1">
          <a:blip r:embed="rId6"/>
          <a:srcRect t="82037" b="14815"/>
          <a:stretch/>
        </p:blipFill>
        <p:spPr>
          <a:xfrm>
            <a:off x="0" y="6743065"/>
            <a:ext cx="12192000" cy="137795"/>
          </a:xfrm>
          <a:prstGeom prst="rect">
            <a:avLst/>
          </a:prstGeom>
        </p:spPr>
      </p:pic>
      <p:pic>
        <p:nvPicPr>
          <p:cNvPr id="16" name="Picture 15">
            <a:extLst>
              <a:ext uri="{FF2B5EF4-FFF2-40B4-BE49-F238E27FC236}">
                <a16:creationId xmlns:a16="http://schemas.microsoft.com/office/drawing/2014/main" xmlns="" id="{B31AFEAB-13E2-B4AA-FD33-8FE461808EF9}"/>
              </a:ext>
            </a:extLst>
          </p:cNvPr>
          <p:cNvPicPr>
            <a:picLocks noChangeAspect="1"/>
          </p:cNvPicPr>
          <p:nvPr userDrawn="1"/>
        </p:nvPicPr>
        <p:blipFill>
          <a:blip r:embed="rId7"/>
          <a:stretch>
            <a:fillRect/>
          </a:stretch>
        </p:blipFill>
        <p:spPr>
          <a:xfrm>
            <a:off x="0" y="0"/>
            <a:ext cx="10464800" cy="666750"/>
          </a:xfrm>
          <a:prstGeom prst="rect">
            <a:avLst/>
          </a:prstGeom>
        </p:spPr>
      </p:pic>
      <p:pic>
        <p:nvPicPr>
          <p:cNvPr id="20" name="Picture 19" descr="A black screen with red and blue stripes&#10;&#10;Description automatically generated">
            <a:extLst>
              <a:ext uri="{FF2B5EF4-FFF2-40B4-BE49-F238E27FC236}">
                <a16:creationId xmlns:a16="http://schemas.microsoft.com/office/drawing/2014/main" xmlns="" id="{11971837-D8B7-1C36-5140-3CE05FA77FBC}"/>
              </a:ext>
            </a:extLst>
          </p:cNvPr>
          <p:cNvPicPr>
            <a:picLocks noChangeAspect="1"/>
          </p:cNvPicPr>
          <p:nvPr userDrawn="1"/>
        </p:nvPicPr>
        <p:blipFill rotWithShape="1">
          <a:blip r:embed="rId8"/>
          <a:srcRect t="94963"/>
          <a:stretch/>
        </p:blipFill>
        <p:spPr>
          <a:xfrm>
            <a:off x="0" y="6522720"/>
            <a:ext cx="12192000" cy="345440"/>
          </a:xfrm>
          <a:prstGeom prst="rect">
            <a:avLst/>
          </a:prstGeom>
        </p:spPr>
      </p:pic>
    </p:spTree>
  </p:cSld>
  <p:clrMap bg1="lt1" tx1="dk1" bg2="dk2" tx2="lt2" accent1="accent1" accent2="accent2" accent3="accent3" accent4="accent4" accent5="accent5" accent6="accent6" hlink="hlink" folHlink="folHlink"/>
  <p:sldLayoutIdLst>
    <p:sldLayoutId id="2147483687" r:id="rId1"/>
    <p:sldLayoutId id="2147483714" r:id="rId2"/>
    <p:sldLayoutId id="2147483728"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xmlns="">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image" Target="../media/image5.jpeg"/><Relationship Id="rId1" Type="http://schemas.openxmlformats.org/officeDocument/2006/relationships/slideLayout" Target="../slideLayouts/slideLayout3.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7.sv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3.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5" Type="http://schemas.openxmlformats.org/officeDocument/2006/relationships/hyperlink" Target="https://www.w3schools.com/" TargetMode="External"/><Relationship Id="rId4" Type="http://schemas.openxmlformats.org/officeDocument/2006/relationships/hyperlink" Target="https://nodejs.org/api/net.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197073"/>
            <a:ext cx="12192000" cy="6858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16666" b="-16666"/>
            </a:stretch>
          </a:blipFill>
        </p:spPr>
        <p:txBody>
          <a:bodyPr/>
          <a:lstStyle/>
          <a:p>
            <a:endParaRPr lang="en-IN" sz="1245"/>
          </a:p>
        </p:txBody>
      </p:sp>
      <p:sp>
        <p:nvSpPr>
          <p:cNvPr id="3" name="Freeform 3"/>
          <p:cNvSpPr/>
          <p:nvPr/>
        </p:nvSpPr>
        <p:spPr>
          <a:xfrm>
            <a:off x="0" y="6660927"/>
            <a:ext cx="12192001" cy="197073"/>
          </a:xfrm>
          <a:custGeom>
            <a:avLst/>
            <a:gdLst/>
            <a:ahLst/>
            <a:cxnLst/>
            <a:rect l="l" t="t" r="r" b="b"/>
            <a:pathLst>
              <a:path w="17979397" h="921444">
                <a:moveTo>
                  <a:pt x="0" y="0"/>
                </a:moveTo>
                <a:lnTo>
                  <a:pt x="17979397" y="0"/>
                </a:lnTo>
                <a:lnTo>
                  <a:pt x="17979397" y="921444"/>
                </a:lnTo>
                <a:lnTo>
                  <a:pt x="0" y="92144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txBody>
          <a:bodyPr/>
          <a:lstStyle/>
          <a:p>
            <a:endParaRPr lang="en-IN" sz="1245"/>
          </a:p>
        </p:txBody>
      </p:sp>
      <p:sp>
        <p:nvSpPr>
          <p:cNvPr id="4" name="Freeform 4"/>
          <p:cNvSpPr/>
          <p:nvPr/>
        </p:nvSpPr>
        <p:spPr>
          <a:xfrm flipV="1">
            <a:off x="0" y="4401147"/>
            <a:ext cx="2529579" cy="2456853"/>
          </a:xfrm>
          <a:custGeom>
            <a:avLst/>
            <a:gdLst/>
            <a:ahLst/>
            <a:cxnLst/>
            <a:rect l="l" t="t" r="r" b="b"/>
            <a:pathLst>
              <a:path w="3794368" h="3685280">
                <a:moveTo>
                  <a:pt x="0" y="3685280"/>
                </a:moveTo>
                <a:lnTo>
                  <a:pt x="3794368" y="3685280"/>
                </a:lnTo>
                <a:lnTo>
                  <a:pt x="3794368" y="0"/>
                </a:lnTo>
                <a:lnTo>
                  <a:pt x="0" y="0"/>
                </a:lnTo>
                <a:lnTo>
                  <a:pt x="0" y="3685280"/>
                </a:lnTo>
                <a:close/>
              </a:path>
            </a:pathLst>
          </a:custGeom>
          <a:blipFill>
            <a:blip r:embed="rId5"/>
            <a:stretch>
              <a:fillRect/>
            </a:stretch>
          </a:blipFill>
        </p:spPr>
        <p:txBody>
          <a:bodyPr/>
          <a:lstStyle/>
          <a:p>
            <a:endParaRPr lang="en-IN" sz="1245"/>
          </a:p>
        </p:txBody>
      </p:sp>
      <p:sp>
        <p:nvSpPr>
          <p:cNvPr id="5" name="Freeform 5"/>
          <p:cNvSpPr/>
          <p:nvPr/>
        </p:nvSpPr>
        <p:spPr>
          <a:xfrm flipH="1">
            <a:off x="5301756" y="0"/>
            <a:ext cx="6890244" cy="6692149"/>
          </a:xfrm>
          <a:custGeom>
            <a:avLst/>
            <a:gdLst/>
            <a:ahLst/>
            <a:cxnLst/>
            <a:rect l="l" t="t" r="r" b="b"/>
            <a:pathLst>
              <a:path w="10335366" h="10038224">
                <a:moveTo>
                  <a:pt x="10335366" y="0"/>
                </a:moveTo>
                <a:lnTo>
                  <a:pt x="0" y="0"/>
                </a:lnTo>
                <a:lnTo>
                  <a:pt x="0" y="10038224"/>
                </a:lnTo>
                <a:lnTo>
                  <a:pt x="10335366" y="10038224"/>
                </a:lnTo>
                <a:lnTo>
                  <a:pt x="10335366" y="0"/>
                </a:lnTo>
                <a:close/>
              </a:path>
            </a:pathLst>
          </a:custGeom>
          <a:blipFill>
            <a:blip r:embed="rId5"/>
            <a:stretch>
              <a:fillRect/>
            </a:stretch>
          </a:blipFill>
        </p:spPr>
        <p:txBody>
          <a:bodyPr/>
          <a:lstStyle/>
          <a:p>
            <a:endParaRPr lang="en-IN" sz="1245"/>
          </a:p>
        </p:txBody>
      </p:sp>
      <p:grpSp>
        <p:nvGrpSpPr>
          <p:cNvPr id="6" name="Group 6"/>
          <p:cNvGrpSpPr/>
          <p:nvPr/>
        </p:nvGrpSpPr>
        <p:grpSpPr>
          <a:xfrm>
            <a:off x="6007852" y="404907"/>
            <a:ext cx="6074313" cy="6074312"/>
            <a:chOff x="-188667" y="-69445"/>
            <a:chExt cx="1507375" cy="1507374"/>
          </a:xfrm>
        </p:grpSpPr>
        <p:sp>
          <p:nvSpPr>
            <p:cNvPr id="7" name="Freeform 7"/>
            <p:cNvSpPr/>
            <p:nvPr/>
          </p:nvSpPr>
          <p:spPr>
            <a:xfrm>
              <a:off x="-188667" y="-69445"/>
              <a:ext cx="1507375" cy="1507374"/>
            </a:xfrm>
            <a:prstGeom prst="ellipse">
              <a:avLst/>
            </a:prstGeom>
            <a:blipFill>
              <a:blip r:embed="rId6"/>
              <a:srcRect/>
              <a:stretch>
                <a:fillRect l="-78487" t="-9550" b="-9550"/>
              </a:stretch>
            </a:blipFill>
          </p:spPr>
          <p:txBody>
            <a:bodyPr/>
            <a:lstStyle/>
            <a:p>
              <a:endParaRPr lang="en-IN" sz="1245" dirty="0"/>
            </a:p>
          </p:txBody>
        </p:sp>
      </p:grpSp>
      <p:sp>
        <p:nvSpPr>
          <p:cNvPr id="8" name="TextBox 7">
            <a:extLst>
              <a:ext uri="{FF2B5EF4-FFF2-40B4-BE49-F238E27FC236}">
                <a16:creationId xmlns:a16="http://schemas.microsoft.com/office/drawing/2014/main" xmlns="" id="{1CFAFDC7-5FD4-AA0C-2C85-1B59ED6CD792}"/>
              </a:ext>
            </a:extLst>
          </p:cNvPr>
          <p:cNvSpPr txBox="1"/>
          <p:nvPr/>
        </p:nvSpPr>
        <p:spPr>
          <a:xfrm>
            <a:off x="358892" y="2584502"/>
            <a:ext cx="5648959" cy="1754326"/>
          </a:xfrm>
          <a:prstGeom prst="rect">
            <a:avLst/>
          </a:prstGeom>
          <a:noFill/>
        </p:spPr>
        <p:txBody>
          <a:bodyPr wrap="square" lIns="91440" tIns="45720" rIns="91440" bIns="45720" rtlCol="0" anchor="t">
            <a:spAutoFit/>
          </a:bodyPr>
          <a:lstStyle/>
          <a:p>
            <a:pPr algn="ctr"/>
            <a:r>
              <a:rPr lang="en-US" sz="3600" b="1" dirty="0">
                <a:solidFill>
                  <a:srgbClr val="023558"/>
                </a:solidFill>
                <a:latin typeface="+mj-lt"/>
              </a:rPr>
              <a:t>Full Stack Web Development with AI Tools</a:t>
            </a:r>
            <a:endParaRPr lang="en-US" sz="3600" b="1" dirty="0">
              <a:solidFill>
                <a:srgbClr val="023558"/>
              </a:solidFill>
            </a:endParaRPr>
          </a:p>
        </p:txBody>
      </p:sp>
      <p:pic>
        <p:nvPicPr>
          <p:cNvPr id="10" name="Picture 9" descr="A close up of a logo&#10;&#10;Description automatically generated">
            <a:extLst>
              <a:ext uri="{FF2B5EF4-FFF2-40B4-BE49-F238E27FC236}">
                <a16:creationId xmlns:a16="http://schemas.microsoft.com/office/drawing/2014/main" xmlns="" id="{54F00DD0-EB7B-EBC0-7FBE-8E865107AF0D}"/>
              </a:ext>
            </a:extLst>
          </p:cNvPr>
          <p:cNvPicPr>
            <a:picLocks noChangeAspect="1"/>
          </p:cNvPicPr>
          <p:nvPr/>
        </p:nvPicPr>
        <p:blipFill>
          <a:blip r:embed="rId7"/>
          <a:stretch>
            <a:fillRect/>
          </a:stretch>
        </p:blipFill>
        <p:spPr>
          <a:xfrm>
            <a:off x="322861" y="388408"/>
            <a:ext cx="1926070" cy="626440"/>
          </a:xfrm>
          <a:prstGeom prst="rect">
            <a:avLst/>
          </a:prstGeom>
        </p:spPr>
      </p:pic>
      <p:sp>
        <p:nvSpPr>
          <p:cNvPr id="11" name="TextBox 10">
            <a:extLst>
              <a:ext uri="{FF2B5EF4-FFF2-40B4-BE49-F238E27FC236}">
                <a16:creationId xmlns:a16="http://schemas.microsoft.com/office/drawing/2014/main" xmlns="" id="{9AB315E8-A49C-3C13-082D-0A9135A687F9}"/>
              </a:ext>
            </a:extLst>
          </p:cNvPr>
          <p:cNvSpPr txBox="1"/>
          <p:nvPr/>
        </p:nvSpPr>
        <p:spPr>
          <a:xfrm>
            <a:off x="1522421" y="4193019"/>
            <a:ext cx="4273414" cy="1569660"/>
          </a:xfrm>
          <a:prstGeom prst="rect">
            <a:avLst/>
          </a:prstGeom>
          <a:noFill/>
        </p:spPr>
        <p:txBody>
          <a:bodyPr wrap="square" lIns="91440" tIns="45720" rIns="91440" bIns="45720" rtlCol="0" anchor="t">
            <a:spAutoFit/>
          </a:bodyPr>
          <a:lstStyle/>
          <a:p>
            <a:r>
              <a:rPr lang="en-US" sz="1600" b="1" i="1" dirty="0">
                <a:solidFill>
                  <a:srgbClr val="023558"/>
                </a:solidFill>
              </a:rPr>
              <a:t>Team Details – NG_CP_Team_5131</a:t>
            </a:r>
          </a:p>
          <a:p>
            <a:r>
              <a:rPr lang="en-US" sz="1600" b="1" i="1" dirty="0" err="1">
                <a:solidFill>
                  <a:srgbClr val="023558"/>
                </a:solidFill>
              </a:rPr>
              <a:t>Gogulraj</a:t>
            </a:r>
            <a:r>
              <a:rPr lang="en-US" sz="1600" b="1" i="1" dirty="0">
                <a:solidFill>
                  <a:srgbClr val="023558"/>
                </a:solidFill>
              </a:rPr>
              <a:t> U</a:t>
            </a:r>
          </a:p>
          <a:p>
            <a:r>
              <a:rPr lang="en-US" sz="1600" b="1" i="1" dirty="0">
                <a:solidFill>
                  <a:srgbClr val="023558"/>
                </a:solidFill>
              </a:rPr>
              <a:t>Kalaiyarasan H</a:t>
            </a:r>
          </a:p>
          <a:p>
            <a:r>
              <a:rPr lang="en-US" sz="1600" b="1" i="1" dirty="0" err="1">
                <a:solidFill>
                  <a:srgbClr val="023558"/>
                </a:solidFill>
              </a:rPr>
              <a:t>Sanjaikumar</a:t>
            </a:r>
            <a:r>
              <a:rPr lang="en-US" sz="1600" b="1" i="1" dirty="0">
                <a:solidFill>
                  <a:srgbClr val="023558"/>
                </a:solidFill>
              </a:rPr>
              <a:t> S</a:t>
            </a:r>
          </a:p>
          <a:p>
            <a:r>
              <a:rPr lang="en-US" sz="1600" b="1" i="1" dirty="0">
                <a:solidFill>
                  <a:srgbClr val="023558"/>
                </a:solidFill>
              </a:rPr>
              <a:t>Bhuvanesh R</a:t>
            </a:r>
          </a:p>
          <a:p>
            <a:r>
              <a:rPr lang="en-US" sz="1600" b="1" i="1" dirty="0">
                <a:solidFill>
                  <a:srgbClr val="023558"/>
                </a:solidFill>
              </a:rPr>
              <a:t>Chandru A E</a:t>
            </a:r>
          </a:p>
        </p:txBody>
      </p:sp>
      <p:sp>
        <p:nvSpPr>
          <p:cNvPr id="13" name="TextBox 12">
            <a:extLst>
              <a:ext uri="{FF2B5EF4-FFF2-40B4-BE49-F238E27FC236}">
                <a16:creationId xmlns:a16="http://schemas.microsoft.com/office/drawing/2014/main" xmlns="" id="{F30F0B85-2D0B-8CE2-0C62-378937D4A485}"/>
              </a:ext>
            </a:extLst>
          </p:cNvPr>
          <p:cNvSpPr txBox="1"/>
          <p:nvPr/>
        </p:nvSpPr>
        <p:spPr>
          <a:xfrm>
            <a:off x="1617088" y="5898012"/>
            <a:ext cx="4037716" cy="523220"/>
          </a:xfrm>
          <a:prstGeom prst="rect">
            <a:avLst/>
          </a:prstGeom>
          <a:noFill/>
        </p:spPr>
        <p:txBody>
          <a:bodyPr wrap="square" lIns="91440" tIns="45720" rIns="91440" bIns="45720" rtlCol="0" anchor="t">
            <a:spAutoFit/>
          </a:bodyPr>
          <a:lstStyle/>
          <a:p>
            <a:pPr algn="ctr"/>
            <a:r>
              <a:rPr lang="en-US" sz="1400" i="1" dirty="0">
                <a:solidFill>
                  <a:srgbClr val="023558"/>
                </a:solidFill>
              </a:rPr>
              <a:t>College: </a:t>
            </a:r>
            <a:r>
              <a:rPr lang="en-US" sz="1400" i="1" dirty="0" err="1">
                <a:solidFill>
                  <a:srgbClr val="023558"/>
                </a:solidFill>
              </a:rPr>
              <a:t>Adhiparasakthi</a:t>
            </a:r>
            <a:r>
              <a:rPr lang="en-US" sz="1400" i="1" dirty="0">
                <a:solidFill>
                  <a:srgbClr val="023558"/>
                </a:solidFill>
              </a:rPr>
              <a:t> Engineering College, </a:t>
            </a:r>
            <a:r>
              <a:rPr lang="en-US" sz="1400" i="1" dirty="0" smtClean="0">
                <a:solidFill>
                  <a:srgbClr val="023558"/>
                </a:solidFill>
              </a:rPr>
              <a:t>Chennai</a:t>
            </a:r>
            <a:endParaRPr lang="en-US" sz="1400" i="1" dirty="0">
              <a:solidFill>
                <a:srgbClr val="023558"/>
              </a:solidFill>
            </a:endParaRPr>
          </a:p>
        </p:txBody>
      </p:sp>
      <p:grpSp>
        <p:nvGrpSpPr>
          <p:cNvPr id="15" name="Group 14">
            <a:extLst>
              <a:ext uri="{FF2B5EF4-FFF2-40B4-BE49-F238E27FC236}">
                <a16:creationId xmlns:a16="http://schemas.microsoft.com/office/drawing/2014/main" xmlns="" id="{91686482-2ABD-404B-4ABA-CEB96E4AB9C1}"/>
              </a:ext>
            </a:extLst>
          </p:cNvPr>
          <p:cNvGrpSpPr/>
          <p:nvPr/>
        </p:nvGrpSpPr>
        <p:grpSpPr>
          <a:xfrm>
            <a:off x="995345" y="1645077"/>
            <a:ext cx="4588472" cy="742352"/>
            <a:chOff x="1283711" y="1438666"/>
            <a:chExt cx="4588472" cy="742352"/>
          </a:xfrm>
        </p:grpSpPr>
        <p:sp>
          <p:nvSpPr>
            <p:cNvPr id="14" name="Rectangle: Rounded Corners 13">
              <a:extLst>
                <a:ext uri="{FF2B5EF4-FFF2-40B4-BE49-F238E27FC236}">
                  <a16:creationId xmlns:a16="http://schemas.microsoft.com/office/drawing/2014/main" xmlns="" id="{FE615D82-5CB2-52DA-0B05-5FE8B54D042E}"/>
                </a:ext>
              </a:extLst>
            </p:cNvPr>
            <p:cNvSpPr/>
            <p:nvPr/>
          </p:nvSpPr>
          <p:spPr>
            <a:xfrm>
              <a:off x="1283711" y="1438666"/>
              <a:ext cx="4588472" cy="742352"/>
            </a:xfrm>
            <a:prstGeom prst="roundRect">
              <a:avLst/>
            </a:prstGeom>
            <a:solidFill>
              <a:srgbClr val="0349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0"/>
            </a:p>
          </p:txBody>
        </p:sp>
        <p:sp>
          <p:nvSpPr>
            <p:cNvPr id="9" name="TextBox 8">
              <a:extLst>
                <a:ext uri="{FF2B5EF4-FFF2-40B4-BE49-F238E27FC236}">
                  <a16:creationId xmlns:a16="http://schemas.microsoft.com/office/drawing/2014/main" xmlns="" id="{DBCEE186-AA2C-A9BA-A43A-D62A437771F7}"/>
                </a:ext>
              </a:extLst>
            </p:cNvPr>
            <p:cNvSpPr txBox="1"/>
            <p:nvPr/>
          </p:nvSpPr>
          <p:spPr>
            <a:xfrm>
              <a:off x="1441240" y="1609787"/>
              <a:ext cx="4273414" cy="400110"/>
            </a:xfrm>
            <a:prstGeom prst="rect">
              <a:avLst/>
            </a:prstGeom>
            <a:noFill/>
          </p:spPr>
          <p:txBody>
            <a:bodyPr wrap="square" lIns="91440" tIns="45720" rIns="91440" bIns="45720" rtlCol="0" anchor="t">
              <a:spAutoFit/>
            </a:bodyPr>
            <a:lstStyle/>
            <a:p>
              <a:pPr algn="ctr"/>
              <a:r>
                <a:rPr lang="en-US" sz="2000" b="1" dirty="0">
                  <a:solidFill>
                    <a:srgbClr val="FFE500"/>
                  </a:solidFill>
                </a:rPr>
                <a:t>Next Gen Employability Program</a:t>
              </a:r>
              <a:endParaRPr lang="en-US" dirty="0">
                <a:solidFill>
                  <a:srgbClr val="FFE500"/>
                </a:solidFil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303A782A-5355-03DB-CA26-A3A3D607DA31}"/>
              </a:ext>
            </a:extLst>
          </p:cNvPr>
          <p:cNvGrpSpPr/>
          <p:nvPr/>
        </p:nvGrpSpPr>
        <p:grpSpPr>
          <a:xfrm>
            <a:off x="1894840" y="1516840"/>
            <a:ext cx="8402320" cy="4033672"/>
            <a:chOff x="2159836" y="1516840"/>
            <a:chExt cx="8402320" cy="4033672"/>
          </a:xfrm>
        </p:grpSpPr>
        <p:grpSp>
          <p:nvGrpSpPr>
            <p:cNvPr id="5" name="Group 4">
              <a:extLst>
                <a:ext uri="{FF2B5EF4-FFF2-40B4-BE49-F238E27FC236}">
                  <a16:creationId xmlns:a16="http://schemas.microsoft.com/office/drawing/2014/main" xmlns="" id="{1C7C8318-501A-300C-1586-3487E06F1253}"/>
                </a:ext>
              </a:extLst>
            </p:cNvPr>
            <p:cNvGrpSpPr/>
            <p:nvPr/>
          </p:nvGrpSpPr>
          <p:grpSpPr>
            <a:xfrm>
              <a:off x="2159836" y="1608432"/>
              <a:ext cx="8402320" cy="3942080"/>
              <a:chOff x="2159836" y="1457960"/>
              <a:chExt cx="8402320" cy="3942080"/>
            </a:xfrm>
          </p:grpSpPr>
          <p:sp>
            <p:nvSpPr>
              <p:cNvPr id="3" name="Rectangle: Rounded Corners 2">
                <a:extLst>
                  <a:ext uri="{FF2B5EF4-FFF2-40B4-BE49-F238E27FC236}">
                    <a16:creationId xmlns:a16="http://schemas.microsoft.com/office/drawing/2014/main" xmlns="" id="{E88D108B-EC8D-6B85-5F57-F9D19D5681C4}"/>
                  </a:ext>
                </a:extLst>
              </p:cNvPr>
              <p:cNvSpPr/>
              <p:nvPr/>
            </p:nvSpPr>
            <p:spPr>
              <a:xfrm>
                <a:off x="2159836" y="1457960"/>
                <a:ext cx="8402320" cy="3942080"/>
              </a:xfrm>
              <a:prstGeom prst="roundRect">
                <a:avLst>
                  <a:gd name="adj" fmla="val 10997"/>
                </a:avLst>
              </a:prstGeom>
              <a:solidFill>
                <a:srgbClr val="0349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xmlns="" id="{4797845F-F959-88CB-A4ED-3AA0360C1A9D}"/>
                  </a:ext>
                </a:extLst>
              </p:cNvPr>
              <p:cNvSpPr txBox="1"/>
              <p:nvPr/>
            </p:nvSpPr>
            <p:spPr>
              <a:xfrm>
                <a:off x="2159836" y="4391210"/>
                <a:ext cx="8402320" cy="830997"/>
              </a:xfrm>
              <a:prstGeom prst="rect">
                <a:avLst/>
              </a:prstGeom>
              <a:noFill/>
            </p:spPr>
            <p:txBody>
              <a:bodyPr wrap="square" rtlCol="0">
                <a:spAutoFit/>
              </a:bodyPr>
              <a:lstStyle/>
              <a:p>
                <a:pPr algn="ctr"/>
                <a:r>
                  <a:rPr lang="en-US" sz="2400" dirty="0">
                    <a:solidFill>
                      <a:srgbClr val="FFE500"/>
                    </a:solidFill>
                  </a:rPr>
                  <a:t>The content is curated from online/offline resources and used for educational purpose only.</a:t>
                </a:r>
              </a:p>
            </p:txBody>
          </p:sp>
        </p:grpSp>
        <p:pic>
          <p:nvPicPr>
            <p:cNvPr id="8" name="Picture 7" descr="A blue sign with black background&#10;&#10;AI-generated content may be incorrect.">
              <a:extLst>
                <a:ext uri="{FF2B5EF4-FFF2-40B4-BE49-F238E27FC236}">
                  <a16:creationId xmlns:a16="http://schemas.microsoft.com/office/drawing/2014/main" xmlns="" id="{43BB6327-B30A-E013-C8DA-976B9EC35411}"/>
                </a:ext>
              </a:extLst>
            </p:cNvPr>
            <p:cNvPicPr>
              <a:picLocks noChangeAspect="1"/>
            </p:cNvPicPr>
            <p:nvPr/>
          </p:nvPicPr>
          <p:blipFill>
            <a:blip r:embed="rId4"/>
            <a:srcRect l="9324" t="20721" r="6756" b="23454"/>
            <a:stretch>
              <a:fillRect/>
            </a:stretch>
          </p:blipFill>
          <p:spPr>
            <a:xfrm>
              <a:off x="2487153" y="1516840"/>
              <a:ext cx="7747686" cy="2899149"/>
            </a:xfrm>
            <a:prstGeom prst="rect">
              <a:avLst/>
            </a:prstGeom>
          </p:spPr>
        </p:pic>
      </p:grpSp>
    </p:spTree>
    <p:custDataLst>
      <p:tags r:id="rId1"/>
    </p:custDataLst>
    <p:extLst>
      <p:ext uri="{BB962C8B-B14F-4D97-AF65-F5344CB8AC3E}">
        <p14:creationId xmlns:p14="http://schemas.microsoft.com/office/powerpoint/2010/main" xmlns="" val="39870245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and yellow line with a black background&#10;&#10;AI-generated content may be incorrect.">
            <a:extLst>
              <a:ext uri="{FF2B5EF4-FFF2-40B4-BE49-F238E27FC236}">
                <a16:creationId xmlns:a16="http://schemas.microsoft.com/office/drawing/2014/main" xmlns="" id="{F314EBF8-9802-CF1D-801E-63C18C220613}"/>
              </a:ext>
            </a:extLst>
          </p:cNvPr>
          <p:cNvPicPr>
            <a:picLocks noChangeAspect="1"/>
          </p:cNvPicPr>
          <p:nvPr/>
        </p:nvPicPr>
        <p:blipFill>
          <a:blip r:embed="rId4"/>
          <a:srcRect l="9820" t="30090" r="9640" b="30270"/>
          <a:stretch>
            <a:fillRect/>
          </a:stretch>
        </p:blipFill>
        <p:spPr>
          <a:xfrm>
            <a:off x="802675" y="1603289"/>
            <a:ext cx="10586649" cy="3907824"/>
          </a:xfrm>
          <a:prstGeom prst="rect">
            <a:avLst/>
          </a:prstGeom>
        </p:spPr>
      </p:pic>
      <p:sp>
        <p:nvSpPr>
          <p:cNvPr id="10" name="TextBox 9">
            <a:extLst>
              <a:ext uri="{FF2B5EF4-FFF2-40B4-BE49-F238E27FC236}">
                <a16:creationId xmlns:a16="http://schemas.microsoft.com/office/drawing/2014/main" xmlns="" id="{FAFEE84B-060E-0646-61C1-61E6884BACC3}"/>
              </a:ext>
            </a:extLst>
          </p:cNvPr>
          <p:cNvSpPr txBox="1"/>
          <p:nvPr/>
        </p:nvSpPr>
        <p:spPr>
          <a:xfrm>
            <a:off x="3167861" y="3251436"/>
            <a:ext cx="6918959" cy="907941"/>
          </a:xfrm>
          <a:prstGeom prst="rect">
            <a:avLst/>
          </a:prstGeom>
          <a:noFill/>
        </p:spPr>
        <p:txBody>
          <a:bodyPr wrap="square" rtlCol="0">
            <a:spAutoFit/>
          </a:bodyPr>
          <a:lstStyle/>
          <a:p>
            <a:pPr algn="ctr"/>
            <a:r>
              <a:rPr lang="en-US" sz="2800" b="1" dirty="0" smtClean="0">
                <a:solidFill>
                  <a:schemeClr val="bg1"/>
                </a:solidFill>
              </a:rPr>
              <a:t>Smart Bus Route Finder</a:t>
            </a:r>
            <a:endParaRPr lang="en-US" sz="2800" dirty="0" smtClean="0">
              <a:solidFill>
                <a:schemeClr val="bg1"/>
              </a:solidFill>
            </a:endParaRPr>
          </a:p>
          <a:p>
            <a:pPr algn="ctr"/>
            <a:endParaRPr lang="en-US" sz="2500" b="1" dirty="0">
              <a:solidFill>
                <a:srgbClr val="D5E3FF"/>
              </a:solidFill>
            </a:endParaRPr>
          </a:p>
        </p:txBody>
      </p:sp>
      <p:sp>
        <p:nvSpPr>
          <p:cNvPr id="13" name="TextBox 12">
            <a:extLst>
              <a:ext uri="{FF2B5EF4-FFF2-40B4-BE49-F238E27FC236}">
                <a16:creationId xmlns:a16="http://schemas.microsoft.com/office/drawing/2014/main" xmlns="" id="{AD7940F8-47B2-3605-4FFD-62224135AD9A}"/>
              </a:ext>
            </a:extLst>
          </p:cNvPr>
          <p:cNvSpPr txBox="1"/>
          <p:nvPr/>
        </p:nvSpPr>
        <p:spPr>
          <a:xfrm>
            <a:off x="5495063" y="2882104"/>
            <a:ext cx="2264554" cy="369332"/>
          </a:xfrm>
          <a:prstGeom prst="rect">
            <a:avLst/>
          </a:prstGeom>
          <a:noFill/>
        </p:spPr>
        <p:txBody>
          <a:bodyPr wrap="square" rtlCol="0">
            <a:spAutoFit/>
          </a:bodyPr>
          <a:lstStyle/>
          <a:p>
            <a:pPr algn="ctr"/>
            <a:r>
              <a:rPr lang="en-US" sz="1800" b="1" dirty="0">
                <a:solidFill>
                  <a:srgbClr val="D5E3FF"/>
                </a:solidFill>
              </a:rPr>
              <a:t>Project Title</a:t>
            </a:r>
          </a:p>
        </p:txBody>
      </p:sp>
    </p:spTree>
    <p:custDataLst>
      <p:tags r:id="rId1"/>
    </p:custDataLst>
    <p:extLst>
      <p:ext uri="{BB962C8B-B14F-4D97-AF65-F5344CB8AC3E}">
        <p14:creationId xmlns:p14="http://schemas.microsoft.com/office/powerpoint/2010/main" xmlns="" val="37811327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g5fab984687_2_0"/>
          <p:cNvSpPr txBox="1">
            <a:spLocks noGrp="1"/>
          </p:cNvSpPr>
          <p:nvPr>
            <p:ph type="title" idx="4294967295"/>
          </p:nvPr>
        </p:nvSpPr>
        <p:spPr>
          <a:xfrm>
            <a:off x="174709" y="1212979"/>
            <a:ext cx="3914776" cy="82667"/>
          </a:xfrm>
          <a:prstGeom prst="rect">
            <a:avLst/>
          </a:prstGeom>
          <a:noFill/>
          <a:ln>
            <a:noFill/>
          </a:ln>
        </p:spPr>
        <p:txBody>
          <a:bodyPr spcFirstLastPara="1" wrap="square" lIns="121900" tIns="121900" rIns="121900" bIns="121900" anchor="t" anchorCtr="0">
            <a:noAutofit/>
          </a:bodyPr>
          <a:lstStyle/>
          <a:p>
            <a:pPr>
              <a:buSzPts val="2800"/>
            </a:pPr>
            <a:r>
              <a:rPr lang="en-IN" sz="2800" b="1" dirty="0">
                <a:solidFill>
                  <a:srgbClr val="213163"/>
                </a:solidFill>
              </a:rPr>
              <a:t>Table of Contents:</a:t>
            </a:r>
          </a:p>
        </p:txBody>
      </p:sp>
      <p:sp>
        <p:nvSpPr>
          <p:cNvPr id="2" name="Google Shape;62;g5fab984687_2_0">
            <a:extLst>
              <a:ext uri="{FF2B5EF4-FFF2-40B4-BE49-F238E27FC236}">
                <a16:creationId xmlns:a16="http://schemas.microsoft.com/office/drawing/2014/main" xmlns="" id="{07E1EAD1-F835-6956-77CD-17363121C17E}"/>
              </a:ext>
            </a:extLst>
          </p:cNvPr>
          <p:cNvSpPr txBox="1">
            <a:spLocks/>
          </p:cNvSpPr>
          <p:nvPr/>
        </p:nvSpPr>
        <p:spPr>
          <a:xfrm>
            <a:off x="669872" y="2097522"/>
            <a:ext cx="6740499" cy="2509935"/>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7200">
              <a:spcBef>
                <a:spcPts val="800"/>
              </a:spcBef>
              <a:buClr>
                <a:srgbClr val="213163"/>
              </a:buClr>
              <a:buFont typeface="Arial" pitchFamily="34" charset="0"/>
              <a:buChar char="•"/>
            </a:pPr>
            <a:r>
              <a:rPr lang="en-IN" sz="2400" dirty="0" smtClean="0"/>
              <a:t>Problem </a:t>
            </a:r>
            <a:r>
              <a:rPr lang="en-IN" sz="2400" dirty="0"/>
              <a:t>statement and </a:t>
            </a:r>
            <a:r>
              <a:rPr lang="en-US" sz="2400" dirty="0"/>
              <a:t>Existing </a:t>
            </a:r>
            <a:r>
              <a:rPr lang="en-US" sz="2400" dirty="0" smtClean="0"/>
              <a:t>System</a:t>
            </a:r>
            <a:endParaRPr lang="en-IN" sz="2400" dirty="0" smtClean="0"/>
          </a:p>
          <a:p>
            <a:pPr marL="457200" indent="-457200">
              <a:spcBef>
                <a:spcPts val="800"/>
              </a:spcBef>
              <a:buClr>
                <a:srgbClr val="213163"/>
              </a:buClr>
              <a:buFont typeface="Arial" pitchFamily="34" charset="0"/>
              <a:buChar char="•"/>
            </a:pPr>
            <a:r>
              <a:rPr lang="en-US" sz="2400" dirty="0" smtClean="0"/>
              <a:t>Project Objectives</a:t>
            </a:r>
          </a:p>
          <a:p>
            <a:pPr marL="457200" indent="-457200">
              <a:spcBef>
                <a:spcPts val="800"/>
              </a:spcBef>
              <a:buClr>
                <a:srgbClr val="213163"/>
              </a:buClr>
              <a:buFont typeface="Arial" pitchFamily="34" charset="0"/>
              <a:buChar char="•"/>
            </a:pPr>
            <a:r>
              <a:rPr lang="en-US" sz="2400" dirty="0" smtClean="0"/>
              <a:t>Introduction</a:t>
            </a:r>
            <a:r>
              <a:rPr lang="en-IN" sz="2400" dirty="0" smtClean="0"/>
              <a:t> </a:t>
            </a:r>
            <a:endParaRPr lang="en-US" sz="2400" dirty="0" smtClean="0"/>
          </a:p>
          <a:p>
            <a:pPr marL="457200" indent="-457200">
              <a:spcBef>
                <a:spcPts val="800"/>
              </a:spcBef>
              <a:buClr>
                <a:srgbClr val="213163"/>
              </a:buClr>
              <a:buFont typeface="Arial" pitchFamily="34" charset="0"/>
              <a:buChar char="•"/>
            </a:pPr>
            <a:r>
              <a:rPr lang="en-US" altLang="en-US" sz="2400" dirty="0" smtClean="0">
                <a:solidFill>
                  <a:schemeClr val="tx1"/>
                </a:solidFill>
                <a:latin typeface="Arial" panose="020B0604020202020204" pitchFamily="34" charset="0"/>
              </a:rPr>
              <a:t>Modules</a:t>
            </a:r>
          </a:p>
          <a:p>
            <a:pPr marL="457200" indent="-457200">
              <a:spcBef>
                <a:spcPts val="800"/>
              </a:spcBef>
              <a:buClr>
                <a:srgbClr val="213163"/>
              </a:buClr>
              <a:buFont typeface="Arial" pitchFamily="34" charset="0"/>
              <a:buChar char="•"/>
            </a:pPr>
            <a:r>
              <a:rPr lang="en-GB" altLang="en-US" sz="2400" dirty="0" smtClean="0">
                <a:solidFill>
                  <a:schemeClr val="tx1"/>
                </a:solidFill>
                <a:latin typeface="Arial" panose="020B0604020202020204" pitchFamily="34" charset="0"/>
              </a:rPr>
              <a:t>C</a:t>
            </a:r>
            <a:r>
              <a:rPr lang="en-US" sz="2400" dirty="0" err="1" smtClean="0"/>
              <a:t>onclusion</a:t>
            </a:r>
            <a:endParaRPr lang="en-US" sz="2400" dirty="0" smtClean="0">
              <a:solidFill>
                <a:schemeClr val="tx1"/>
              </a:solidFill>
              <a:latin typeface="Arial" panose="020B0604020202020204" pitchFamily="34" charset="0"/>
            </a:endParaRPr>
          </a:p>
          <a:p>
            <a:pPr marL="457200" indent="-457200">
              <a:spcBef>
                <a:spcPts val="800"/>
              </a:spcBef>
              <a:buClr>
                <a:srgbClr val="213163"/>
              </a:buClr>
              <a:buFont typeface="Arial" pitchFamily="34" charset="0"/>
              <a:buChar char="•"/>
            </a:pPr>
            <a:r>
              <a:rPr lang="en-US" sz="2400" dirty="0" smtClean="0"/>
              <a:t>References</a:t>
            </a:r>
            <a:endParaRPr lang="en-US" sz="2400" dirty="0"/>
          </a:p>
          <a:p>
            <a:pPr marL="571500" indent="-571500">
              <a:spcBef>
                <a:spcPts val="800"/>
              </a:spcBef>
              <a:buClr>
                <a:srgbClr val="213163"/>
              </a:buClr>
              <a:buFont typeface="Wingdings" panose="05000000000000000000" pitchFamily="2" charset="2"/>
              <a:buChar char="Ø"/>
            </a:pPr>
            <a:endParaRPr lang="en-IN" sz="2400" dirty="0"/>
          </a:p>
        </p:txBody>
      </p:sp>
      <p:pic>
        <p:nvPicPr>
          <p:cNvPr id="3" name="Picture 2" descr="A light bulb with a black background&#10;&#10;Description automatically generated">
            <a:extLst>
              <a:ext uri="{FF2B5EF4-FFF2-40B4-BE49-F238E27FC236}">
                <a16:creationId xmlns:a16="http://schemas.microsoft.com/office/drawing/2014/main" xmlns="" id="{C3BD9B49-6271-C92D-48CE-5039440C29E5}"/>
              </a:ext>
            </a:extLst>
          </p:cNvPr>
          <p:cNvPicPr>
            <a:picLocks noChangeAspect="1"/>
          </p:cNvPicPr>
          <p:nvPr/>
        </p:nvPicPr>
        <p:blipFill rotWithShape="1">
          <a:blip r:embed="rId4"/>
          <a:srcRect l="7117" t="5427" r="7295" b="7474"/>
          <a:stretch/>
        </p:blipFill>
        <p:spPr>
          <a:xfrm>
            <a:off x="7112000" y="1092200"/>
            <a:ext cx="4551680" cy="4632115"/>
          </a:xfrm>
          <a:prstGeom prst="rect">
            <a:avLst/>
          </a:prstGeom>
        </p:spPr>
      </p:pic>
    </p:spTree>
    <p:custDataLst>
      <p:tags r:id="rId1"/>
    </p:custDataLst>
    <p:extLst>
      <p:ext uri="{BB962C8B-B14F-4D97-AF65-F5344CB8AC3E}">
        <p14:creationId xmlns:p14="http://schemas.microsoft.com/office/powerpoint/2010/main" xmlns="" val="3042168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xmlns="" id="{17D828F6-D11A-004C-6B1C-7342E3C20C0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xmlns="" id="{7D823E25-84FD-BE22-DA52-9C2FFE662474}"/>
              </a:ext>
            </a:extLst>
          </p:cNvPr>
          <p:cNvSpPr txBox="1"/>
          <p:nvPr/>
        </p:nvSpPr>
        <p:spPr>
          <a:xfrm>
            <a:off x="457200" y="1119673"/>
            <a:ext cx="9498563" cy="4894802"/>
          </a:xfrm>
          <a:prstGeom prst="rect">
            <a:avLst/>
          </a:prstGeom>
          <a:noFill/>
        </p:spPr>
        <p:txBody>
          <a:bodyPr wrap="square">
            <a:spAutoFit/>
          </a:bodyPr>
          <a:lstStyle/>
          <a:p>
            <a:pPr>
              <a:lnSpc>
                <a:spcPct val="150000"/>
              </a:lnSpc>
            </a:pPr>
            <a:r>
              <a:rPr lang="en-US" sz="2000" b="1" dirty="0"/>
              <a:t>Problem Statement:</a:t>
            </a:r>
          </a:p>
          <a:p>
            <a:pPr marL="342900" indent="-342900">
              <a:lnSpc>
                <a:spcPct val="150000"/>
              </a:lnSpc>
              <a:buFont typeface="Arial" pitchFamily="34" charset="0"/>
              <a:buChar char="•"/>
            </a:pPr>
            <a:r>
              <a:rPr lang="en-US" dirty="0"/>
              <a:t>Passengers do not have access to real-time bus location </a:t>
            </a:r>
            <a:r>
              <a:rPr lang="en-US" dirty="0" smtClean="0"/>
              <a:t>information.</a:t>
            </a:r>
          </a:p>
          <a:p>
            <a:pPr marL="342900" indent="-342900">
              <a:lnSpc>
                <a:spcPct val="150000"/>
              </a:lnSpc>
              <a:buFont typeface="Arial" pitchFamily="34" charset="0"/>
              <a:buChar char="•"/>
            </a:pPr>
            <a:r>
              <a:rPr lang="en-US" dirty="0" smtClean="0"/>
              <a:t>Bus </a:t>
            </a:r>
            <a:r>
              <a:rPr lang="en-US" dirty="0"/>
              <a:t>arrival times are uncertain due to traffic and </a:t>
            </a:r>
            <a:r>
              <a:rPr lang="en-US" dirty="0" smtClean="0"/>
              <a:t>delays.</a:t>
            </a:r>
          </a:p>
          <a:p>
            <a:pPr marL="342900" indent="-342900">
              <a:lnSpc>
                <a:spcPct val="150000"/>
              </a:lnSpc>
              <a:buFont typeface="Arial" pitchFamily="34" charset="0"/>
              <a:buChar char="•"/>
            </a:pPr>
            <a:r>
              <a:rPr lang="en-US" dirty="0" smtClean="0"/>
              <a:t>Long </a:t>
            </a:r>
            <a:r>
              <a:rPr lang="en-US" dirty="0"/>
              <a:t>waiting time at bus stops causes </a:t>
            </a:r>
            <a:r>
              <a:rPr lang="en-US" dirty="0" smtClean="0"/>
              <a:t>inconvenience.</a:t>
            </a:r>
          </a:p>
          <a:p>
            <a:pPr marL="342900" indent="-342900">
              <a:lnSpc>
                <a:spcPct val="150000"/>
              </a:lnSpc>
              <a:buFont typeface="Arial" pitchFamily="34" charset="0"/>
              <a:buChar char="•"/>
            </a:pPr>
            <a:r>
              <a:rPr lang="en-US" dirty="0" smtClean="0"/>
              <a:t>Lack </a:t>
            </a:r>
            <a:r>
              <a:rPr lang="en-US" dirty="0"/>
              <a:t>of a simple digital platform to track buses easily.</a:t>
            </a:r>
          </a:p>
          <a:p>
            <a:pPr>
              <a:lnSpc>
                <a:spcPct val="150000"/>
              </a:lnSpc>
            </a:pPr>
            <a:endParaRPr lang="en-US" dirty="0"/>
          </a:p>
          <a:p>
            <a:pPr>
              <a:lnSpc>
                <a:spcPct val="150000"/>
              </a:lnSpc>
            </a:pPr>
            <a:r>
              <a:rPr lang="en-US" sz="2000" b="1" dirty="0"/>
              <a:t>Existing</a:t>
            </a:r>
            <a:r>
              <a:rPr lang="en-US" b="1" dirty="0"/>
              <a:t> System:</a:t>
            </a:r>
          </a:p>
          <a:p>
            <a:pPr marL="342900" indent="-342900">
              <a:lnSpc>
                <a:spcPct val="150000"/>
              </a:lnSpc>
              <a:buFont typeface="Arial" pitchFamily="34" charset="0"/>
              <a:buChar char="•"/>
            </a:pPr>
            <a:r>
              <a:rPr lang="en-US" dirty="0"/>
              <a:t>Depends on fixed timetable </a:t>
            </a:r>
            <a:r>
              <a:rPr lang="en-US" dirty="0" smtClean="0"/>
              <a:t>schedules.</a:t>
            </a:r>
          </a:p>
          <a:p>
            <a:pPr marL="342900" indent="-342900">
              <a:lnSpc>
                <a:spcPct val="150000"/>
              </a:lnSpc>
              <a:buFont typeface="Arial" pitchFamily="34" charset="0"/>
              <a:buChar char="•"/>
            </a:pPr>
            <a:r>
              <a:rPr lang="en-US" dirty="0" smtClean="0"/>
              <a:t>Passengers </a:t>
            </a:r>
            <a:r>
              <a:rPr lang="en-US" dirty="0"/>
              <a:t>rely on manual inquiry at bus </a:t>
            </a:r>
            <a:r>
              <a:rPr lang="en-US" dirty="0" smtClean="0"/>
              <a:t>stands.</a:t>
            </a:r>
          </a:p>
          <a:p>
            <a:pPr marL="342900" indent="-342900">
              <a:lnSpc>
                <a:spcPct val="150000"/>
              </a:lnSpc>
              <a:buFont typeface="Arial" pitchFamily="34" charset="0"/>
              <a:buChar char="•"/>
            </a:pPr>
            <a:r>
              <a:rPr lang="en-US" dirty="0" smtClean="0"/>
              <a:t>No </a:t>
            </a:r>
            <a:r>
              <a:rPr lang="en-US" dirty="0"/>
              <a:t>proper real-time GPS tracking in many </a:t>
            </a:r>
            <a:r>
              <a:rPr lang="en-US" dirty="0" smtClean="0"/>
              <a:t>areas.</a:t>
            </a:r>
          </a:p>
          <a:p>
            <a:pPr marL="342900" indent="-342900">
              <a:lnSpc>
                <a:spcPct val="150000"/>
              </a:lnSpc>
              <a:buFont typeface="Arial" pitchFamily="34" charset="0"/>
              <a:buChar char="•"/>
            </a:pPr>
            <a:r>
              <a:rPr lang="en-US" dirty="0" smtClean="0"/>
              <a:t>Information </a:t>
            </a:r>
            <a:r>
              <a:rPr lang="en-US" dirty="0"/>
              <a:t>provided is often inaccurate or delayed.</a:t>
            </a:r>
          </a:p>
        </p:txBody>
      </p:sp>
    </p:spTree>
    <p:custDataLst>
      <p:tags r:id="rId1"/>
    </p:custDataLst>
    <p:extLst>
      <p:ext uri="{BB962C8B-B14F-4D97-AF65-F5344CB8AC3E}">
        <p14:creationId xmlns:p14="http://schemas.microsoft.com/office/powerpoint/2010/main" xmlns="" val="23572317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C57DAE5F-E1B1-D50D-80BB-631F1023898F}"/>
              </a:ext>
            </a:extLst>
          </p:cNvPr>
          <p:cNvSpPr txBox="1"/>
          <p:nvPr/>
        </p:nvSpPr>
        <p:spPr>
          <a:xfrm>
            <a:off x="951721" y="1380908"/>
            <a:ext cx="9246637" cy="4533805"/>
          </a:xfrm>
          <a:prstGeom prst="rect">
            <a:avLst/>
          </a:prstGeom>
          <a:noFill/>
        </p:spPr>
        <p:txBody>
          <a:bodyPr wrap="square">
            <a:spAutoFit/>
          </a:bodyPr>
          <a:lstStyle/>
          <a:p>
            <a:pPr>
              <a:buNone/>
            </a:pPr>
            <a:r>
              <a:rPr lang="en-US" sz="2000" b="1" dirty="0"/>
              <a:t>Project Objectives: </a:t>
            </a:r>
          </a:p>
          <a:p>
            <a:pPr>
              <a:buNone/>
            </a:pPr>
            <a:endParaRPr lang="en-US" sz="2000" b="1" dirty="0"/>
          </a:p>
          <a:p>
            <a:pPr>
              <a:lnSpc>
                <a:spcPct val="150000"/>
              </a:lnSpc>
              <a:buNone/>
            </a:pPr>
            <a:r>
              <a:rPr lang="en-US" dirty="0"/>
              <a:t>              The main objective of the </a:t>
            </a:r>
            <a:r>
              <a:rPr lang="en-US" dirty="0" err="1"/>
              <a:t>MyBusStand</a:t>
            </a:r>
            <a:r>
              <a:rPr lang="en-US" dirty="0"/>
              <a:t> project is to develop a user-friendly web application that enables passengers to track buses easily and efficiently. The system aims to provide secure access through mobile OTP authentication to ensure safe usage. It allows users to search for buses by entering their source and destination locations and displays available buses with route details dynamically. The application also simulates real-time bus tracking and calculates the Estimated Time of Arrival (ETA) to reduce waiting time and travel uncertainty. Overall, the project focuses on improving public transport convenience by using simple and effective digital technology. </a:t>
            </a:r>
          </a:p>
        </p:txBody>
      </p:sp>
    </p:spTree>
    <p:extLst>
      <p:ext uri="{BB962C8B-B14F-4D97-AF65-F5344CB8AC3E}">
        <p14:creationId xmlns:p14="http://schemas.microsoft.com/office/powerpoint/2010/main" xmlns="" val="36601593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xmlns="" id="{A4FDCFAA-3CBD-BF61-490E-3DA404BD2FA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xmlns="" id="{2223F41D-E422-CED2-91BA-BE9784690CC2}"/>
              </a:ext>
            </a:extLst>
          </p:cNvPr>
          <p:cNvSpPr txBox="1"/>
          <p:nvPr/>
        </p:nvSpPr>
        <p:spPr>
          <a:xfrm>
            <a:off x="1091682" y="1405047"/>
            <a:ext cx="8658808" cy="4154984"/>
          </a:xfrm>
          <a:prstGeom prst="rect">
            <a:avLst/>
          </a:prstGeom>
          <a:noFill/>
        </p:spPr>
        <p:txBody>
          <a:bodyPr wrap="square">
            <a:spAutoFit/>
          </a:bodyPr>
          <a:lstStyle/>
          <a:p>
            <a:pPr>
              <a:lnSpc>
                <a:spcPct val="200000"/>
              </a:lnSpc>
              <a:buNone/>
            </a:pPr>
            <a:r>
              <a:rPr lang="en-US" sz="2400" b="1" dirty="0"/>
              <a:t>Introduction </a:t>
            </a:r>
            <a:r>
              <a:rPr lang="en-US" sz="2400" b="1" dirty="0" smtClean="0"/>
              <a:t>:</a:t>
            </a:r>
          </a:p>
          <a:p>
            <a:pPr>
              <a:buNone/>
            </a:pPr>
            <a:r>
              <a:rPr lang="en-GB" sz="2400" dirty="0" smtClean="0"/>
              <a:t>                </a:t>
            </a:r>
            <a:r>
              <a:rPr lang="en-GB" sz="2400" dirty="0" err="1" smtClean="0"/>
              <a:t>MyBusStand</a:t>
            </a:r>
            <a:r>
              <a:rPr lang="en-GB" sz="2400" dirty="0" smtClean="0"/>
              <a:t> </a:t>
            </a:r>
            <a:r>
              <a:rPr lang="en-GB" sz="2400" dirty="0" smtClean="0"/>
              <a:t>is a user-friendly mobile application designed to help people in villages and towns track the live location of buses and find bus routes easily. The app allows users to know where the bus is, its route, and expected arrival time, reducing waiting time at bus stops. With a simple interface and local language support, </a:t>
            </a:r>
            <a:r>
              <a:rPr lang="en-GB" sz="2400" dirty="0" err="1" smtClean="0"/>
              <a:t>MyBusStand</a:t>
            </a:r>
            <a:r>
              <a:rPr lang="en-GB" sz="2400" dirty="0" smtClean="0"/>
              <a:t> makes public transportation more convenient and efficient.</a:t>
            </a:r>
          </a:p>
          <a:p>
            <a:pPr>
              <a:lnSpc>
                <a:spcPct val="200000"/>
              </a:lnSpc>
              <a:buNone/>
            </a:pPr>
            <a:endParaRPr lang="en-US" sz="2400" dirty="0" smtClean="0"/>
          </a:p>
        </p:txBody>
      </p:sp>
    </p:spTree>
    <p:custDataLst>
      <p:tags r:id="rId1"/>
    </p:custDataLst>
    <p:extLst>
      <p:ext uri="{BB962C8B-B14F-4D97-AF65-F5344CB8AC3E}">
        <p14:creationId xmlns:p14="http://schemas.microsoft.com/office/powerpoint/2010/main" xmlns="" val="3283350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xmlns="" id="{A4FDCFAA-3CBD-BF61-490E-3DA404BD2FA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xmlns="" id="{2223F41D-E422-CED2-91BA-BE9784690CC2}"/>
              </a:ext>
            </a:extLst>
          </p:cNvPr>
          <p:cNvSpPr txBox="1"/>
          <p:nvPr/>
        </p:nvSpPr>
        <p:spPr>
          <a:xfrm>
            <a:off x="1078619" y="1567543"/>
            <a:ext cx="8658808" cy="5025222"/>
          </a:xfrm>
          <a:prstGeom prst="rect">
            <a:avLst/>
          </a:prstGeom>
          <a:noFill/>
        </p:spPr>
        <p:txBody>
          <a:bodyPr wrap="square">
            <a:spAutoFit/>
          </a:bodyPr>
          <a:lstStyle/>
          <a:p>
            <a:r>
              <a:rPr lang="en-US" sz="2000" b="1" dirty="0" smtClean="0"/>
              <a:t>Hardware Requirements</a:t>
            </a:r>
          </a:p>
          <a:p>
            <a:pPr marL="342900" indent="-342900">
              <a:buFont typeface="Arial" panose="020B0604020202020204" pitchFamily="34" charset="0"/>
              <a:buChar char="•"/>
            </a:pPr>
            <a:r>
              <a:rPr lang="en-US" sz="2000" dirty="0" smtClean="0"/>
              <a:t>Processor: Intel i3 or above</a:t>
            </a:r>
          </a:p>
          <a:p>
            <a:pPr marL="342900" indent="-342900">
              <a:buFont typeface="Arial" panose="020B0604020202020204" pitchFamily="34" charset="0"/>
              <a:buChar char="•"/>
            </a:pPr>
            <a:r>
              <a:rPr lang="en-US" sz="2000" dirty="0" smtClean="0"/>
              <a:t>RAM: Minimum 4 GB</a:t>
            </a:r>
          </a:p>
          <a:p>
            <a:pPr marL="342900" indent="-342900">
              <a:buFont typeface="Arial" panose="020B0604020202020204" pitchFamily="34" charset="0"/>
              <a:buChar char="•"/>
            </a:pPr>
            <a:r>
              <a:rPr lang="en-US" sz="2000" dirty="0" smtClean="0"/>
              <a:t>Hard Disk: Minimum 20 GB free space</a:t>
            </a:r>
          </a:p>
          <a:p>
            <a:pPr marL="342900" indent="-342900">
              <a:buFont typeface="Arial" panose="020B0604020202020204" pitchFamily="34" charset="0"/>
              <a:buChar char="•"/>
            </a:pPr>
            <a:r>
              <a:rPr lang="en-US" sz="2000" dirty="0" smtClean="0"/>
              <a:t>Device: Desktop / Laptop / Mobile</a:t>
            </a:r>
          </a:p>
          <a:p>
            <a:pPr marL="342900" indent="-342900">
              <a:buFont typeface="Arial" panose="020B0604020202020204" pitchFamily="34" charset="0"/>
              <a:buChar char="•"/>
            </a:pPr>
            <a:r>
              <a:rPr lang="en-US" sz="2000" dirty="0" smtClean="0"/>
              <a:t>Internet connection required</a:t>
            </a:r>
          </a:p>
          <a:p>
            <a:endParaRPr lang="en-US" sz="2000" b="1" dirty="0" smtClean="0"/>
          </a:p>
          <a:p>
            <a:r>
              <a:rPr lang="en-US" sz="2000" b="1" dirty="0" smtClean="0"/>
              <a:t>Software Requirements</a:t>
            </a:r>
          </a:p>
          <a:p>
            <a:pPr marL="342900" indent="-342900">
              <a:buFont typeface="Arial" panose="020B0604020202020204" pitchFamily="34" charset="0"/>
              <a:buChar char="•"/>
            </a:pPr>
            <a:r>
              <a:rPr lang="en-US" sz="2000" dirty="0" smtClean="0"/>
              <a:t>Operating System: Windows / Linux / </a:t>
            </a:r>
            <a:r>
              <a:rPr lang="en-US" sz="2000" dirty="0" err="1" smtClean="0"/>
              <a:t>macOS</a:t>
            </a:r>
            <a:endParaRPr lang="en-US" sz="2000" dirty="0" smtClean="0"/>
          </a:p>
          <a:p>
            <a:pPr marL="342900" indent="-342900">
              <a:buFont typeface="Arial" panose="020B0604020202020204" pitchFamily="34" charset="0"/>
              <a:buChar char="•"/>
            </a:pPr>
            <a:r>
              <a:rPr lang="en-US" sz="2000" dirty="0" smtClean="0"/>
              <a:t>Frontend: HTML, CSS, JavaScript</a:t>
            </a:r>
          </a:p>
          <a:p>
            <a:pPr marL="342900" indent="-342900">
              <a:buFont typeface="Arial" panose="020B0604020202020204" pitchFamily="34" charset="0"/>
              <a:buChar char="•"/>
            </a:pPr>
            <a:r>
              <a:rPr lang="en-US" sz="2000" dirty="0" smtClean="0"/>
              <a:t>Backend: Python 3.8 or higher</a:t>
            </a:r>
          </a:p>
          <a:p>
            <a:pPr marL="342900" indent="-342900">
              <a:buFont typeface="Arial" panose="020B0604020202020204" pitchFamily="34" charset="0"/>
              <a:buChar char="•"/>
            </a:pPr>
            <a:r>
              <a:rPr lang="en-US" sz="2000" dirty="0" smtClean="0"/>
              <a:t>Framework: </a:t>
            </a:r>
            <a:r>
              <a:rPr lang="en-US" sz="2000" dirty="0" err="1" smtClean="0"/>
              <a:t>Django</a:t>
            </a:r>
            <a:r>
              <a:rPr lang="en-US" sz="2000" dirty="0" smtClean="0"/>
              <a:t> 5.0</a:t>
            </a:r>
          </a:p>
          <a:p>
            <a:pPr marL="342900" indent="-342900">
              <a:buFont typeface="Arial" panose="020B0604020202020204" pitchFamily="34" charset="0"/>
              <a:buChar char="•"/>
            </a:pPr>
            <a:r>
              <a:rPr lang="en-US" sz="2000" dirty="0" smtClean="0"/>
              <a:t>Database: </a:t>
            </a:r>
            <a:r>
              <a:rPr lang="en-US" sz="2000" dirty="0" err="1" smtClean="0"/>
              <a:t>MySQL</a:t>
            </a:r>
            <a:r>
              <a:rPr lang="en-US" sz="2000" dirty="0" smtClean="0"/>
              <a:t> 8.0.45</a:t>
            </a:r>
          </a:p>
          <a:p>
            <a:pPr marL="342900" indent="-342900">
              <a:buFont typeface="Arial" panose="020B0604020202020204" pitchFamily="34" charset="0"/>
              <a:buChar char="•"/>
            </a:pPr>
            <a:r>
              <a:rPr lang="en-US" sz="2000" dirty="0" smtClean="0"/>
              <a:t>Web Browser: Chrome / Edge / Firefox</a:t>
            </a:r>
          </a:p>
          <a:p>
            <a:pPr>
              <a:lnSpc>
                <a:spcPct val="200000"/>
              </a:lnSpc>
              <a:buNone/>
            </a:pPr>
            <a:endParaRPr lang="en-US" sz="2400" dirty="0" smtClean="0"/>
          </a:p>
        </p:txBody>
      </p:sp>
      <p:sp>
        <p:nvSpPr>
          <p:cNvPr id="3" name="Rectangle 2"/>
          <p:cNvSpPr/>
          <p:nvPr/>
        </p:nvSpPr>
        <p:spPr>
          <a:xfrm>
            <a:off x="1072852" y="956006"/>
            <a:ext cx="2340705" cy="461665"/>
          </a:xfrm>
          <a:prstGeom prst="rect">
            <a:avLst/>
          </a:prstGeom>
        </p:spPr>
        <p:txBody>
          <a:bodyPr wrap="none">
            <a:spAutoFit/>
          </a:bodyPr>
          <a:lstStyle/>
          <a:p>
            <a:r>
              <a:rPr lang="en-IN" sz="2400" b="1" dirty="0" smtClean="0">
                <a:solidFill>
                  <a:srgbClr val="213163"/>
                </a:solidFill>
              </a:rPr>
              <a:t>Requirements:</a:t>
            </a:r>
            <a:endParaRPr lang="en-US" sz="2400" dirty="0"/>
          </a:p>
        </p:txBody>
      </p:sp>
    </p:spTree>
    <p:custDataLst>
      <p:tags r:id="rId1"/>
    </p:custDataLst>
    <p:extLst>
      <p:ext uri="{BB962C8B-B14F-4D97-AF65-F5344CB8AC3E}">
        <p14:creationId xmlns:p14="http://schemas.microsoft.com/office/powerpoint/2010/main" xmlns="" val="32833504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xmlns="" id="{39A1CF19-477C-5C17-FA78-34A1ABC13E5A}"/>
            </a:ext>
          </a:extLst>
        </p:cNvPr>
        <p:cNvGrpSpPr/>
        <p:nvPr/>
      </p:nvGrpSpPr>
      <p:grpSpPr>
        <a:xfrm>
          <a:off x="0" y="0"/>
          <a:ext cx="0" cy="0"/>
          <a:chOff x="0" y="0"/>
          <a:chExt cx="0" cy="0"/>
        </a:xfrm>
      </p:grpSpPr>
      <p:sp>
        <p:nvSpPr>
          <p:cNvPr id="5" name="Rectangle 3">
            <a:extLst>
              <a:ext uri="{FF2B5EF4-FFF2-40B4-BE49-F238E27FC236}">
                <a16:creationId xmlns:a16="http://schemas.microsoft.com/office/drawing/2014/main" xmlns="" id="{80355532-A593-7544-3DC6-4DED15235612}"/>
              </a:ext>
            </a:extLst>
          </p:cNvPr>
          <p:cNvSpPr>
            <a:spLocks noChangeArrowheads="1"/>
          </p:cNvSpPr>
          <p:nvPr/>
        </p:nvSpPr>
        <p:spPr bwMode="auto">
          <a:xfrm>
            <a:off x="279918" y="797511"/>
            <a:ext cx="11912082" cy="526297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2800" b="1" i="0" u="none" strike="noStrike" cap="none" normalizeH="0" baseline="0" dirty="0">
                <a:ln>
                  <a:noFill/>
                </a:ln>
                <a:solidFill>
                  <a:schemeClr val="tx1"/>
                </a:solidFill>
                <a:effectLst/>
                <a:latin typeface="Arial" panose="020B0604020202020204" pitchFamily="34" charset="0"/>
              </a:rPr>
              <a:t>Modules:</a:t>
            </a:r>
          </a:p>
          <a:p>
            <a:pPr marR="0" lvl="0" algn="l" defTabSz="914400" rtl="0" eaLnBrk="0" fontAlgn="base" latinLnBrk="0" hangingPunct="0">
              <a:lnSpc>
                <a:spcPct val="100000"/>
              </a:lnSpc>
              <a:spcBef>
                <a:spcPct val="0"/>
              </a:spcBef>
              <a:spcAft>
                <a:spcPct val="0"/>
              </a:spcAft>
              <a:buClrTx/>
              <a:buSzTx/>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Arial" panose="020B0604020202020204" pitchFamily="34" charset="0"/>
              </a:rPr>
              <a:t>User Authentication Module</a:t>
            </a:r>
            <a:r>
              <a:rPr kumimoji="0" lang="en-US" altLang="en-US" sz="1800" b="0" i="0" u="none" strike="noStrike" cap="none" normalizeH="0" baseline="0" dirty="0">
                <a:ln>
                  <a:noFill/>
                </a:ln>
                <a:solidFill>
                  <a:schemeClr val="tx1"/>
                </a:solidFill>
                <a:effectLst/>
                <a:latin typeface="Arial" panose="020B0604020202020204" pitchFamily="34" charset="0"/>
              </a:rPr>
              <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Allows users to log in using mobile OTP verification to ensure secure and authorized access.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Arial" panose="020B0604020202020204" pitchFamily="34" charset="0"/>
              </a:rPr>
              <a:t>Route Search Module</a:t>
            </a:r>
            <a:r>
              <a:rPr kumimoji="0" lang="en-US" altLang="en-US" sz="1800" b="0" i="0" u="none" strike="noStrike" cap="none" normalizeH="0" baseline="0" dirty="0">
                <a:ln>
                  <a:noFill/>
                </a:ln>
                <a:solidFill>
                  <a:schemeClr val="tx1"/>
                </a:solidFill>
                <a:effectLst/>
                <a:latin typeface="Arial" panose="020B0604020202020204" pitchFamily="34" charset="0"/>
              </a:rPr>
              <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Enables users to enter source and destination to search for available buses easily.</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Arial" panose="020B0604020202020204" pitchFamily="34" charset="0"/>
              </a:rPr>
              <a:t>Bus Listing Module</a:t>
            </a:r>
            <a:r>
              <a:rPr kumimoji="0" lang="en-US" altLang="en-US" sz="1800" b="0" i="0" u="none" strike="noStrike" cap="none" normalizeH="0" baseline="0" dirty="0">
                <a:ln>
                  <a:noFill/>
                </a:ln>
                <a:solidFill>
                  <a:schemeClr val="tx1"/>
                </a:solidFill>
                <a:effectLst/>
                <a:latin typeface="Arial" panose="020B0604020202020204" pitchFamily="34" charset="0"/>
              </a:rPr>
              <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Displays available buses with bus numbers and route details based on user search.</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Live Bus Tracking Module</a:t>
            </a:r>
            <a:r>
              <a:rPr kumimoji="0" lang="en-US" altLang="en-US" sz="1800" b="0" i="0" u="none" strike="noStrike" cap="none" normalizeH="0" baseline="0" dirty="0">
                <a:ln>
                  <a:noFill/>
                </a:ln>
                <a:solidFill>
                  <a:schemeClr val="tx1"/>
                </a:solidFill>
                <a:effectLst/>
                <a:latin typeface="Arial" panose="020B0604020202020204" pitchFamily="34" charset="0"/>
              </a:rPr>
              <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Simulates real-time bus location and shows Estimated Time of Arrival (ETA).</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Arial" panose="020B0604020202020204" pitchFamily="34" charset="0"/>
              </a:rPr>
              <a:t>Chatbot Support Module</a:t>
            </a:r>
            <a:r>
              <a:rPr kumimoji="0" lang="en-US" altLang="en-US" sz="1800" b="0" i="0" u="none" strike="noStrike" cap="none" normalizeH="0" baseline="0" dirty="0">
                <a:ln>
                  <a:noFill/>
                </a:ln>
                <a:solidFill>
                  <a:schemeClr val="tx1"/>
                </a:solidFill>
                <a:effectLst/>
                <a:latin typeface="Arial" panose="020B0604020202020204" pitchFamily="34" charset="0"/>
              </a:rPr>
              <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Provides automated assistance to answer user queries and improve user experience.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ustDataLst>
      <p:tags r:id="rId1"/>
    </p:custDataLst>
    <p:extLst>
      <p:ext uri="{BB962C8B-B14F-4D97-AF65-F5344CB8AC3E}">
        <p14:creationId xmlns:p14="http://schemas.microsoft.com/office/powerpoint/2010/main" xmlns="" val="41280651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1207047" y="809897"/>
            <a:ext cx="8890542" cy="5492307"/>
          </a:xfrm>
          <a:prstGeom prst="rect">
            <a:avLst/>
          </a:prstGeom>
          <a:noFill/>
          <a:ln w="9525">
            <a:noFill/>
            <a:miter lim="800000"/>
            <a:headEnd/>
            <a:tailEnd/>
          </a:ln>
          <a:effectLst/>
        </p:spPr>
      </p:pic>
    </p:spTree>
    <p:extLst>
      <p:ext uri="{BB962C8B-B14F-4D97-AF65-F5344CB8AC3E}">
        <p14:creationId xmlns:p14="http://schemas.microsoft.com/office/powerpoint/2010/main" xmlns="" val="1051283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6-02-19 214640.jpg"/>
          <p:cNvPicPr>
            <a:picLocks noChangeAspect="1"/>
          </p:cNvPicPr>
          <p:nvPr/>
        </p:nvPicPr>
        <p:blipFill>
          <a:blip r:embed="rId2"/>
          <a:stretch>
            <a:fillRect/>
          </a:stretch>
        </p:blipFill>
        <p:spPr>
          <a:xfrm>
            <a:off x="313508" y="783771"/>
            <a:ext cx="11220994" cy="569540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11085" y="1449713"/>
            <a:ext cx="6096000" cy="3704219"/>
          </a:xfrm>
          <a:prstGeom prst="rect">
            <a:avLst/>
          </a:prstGeom>
        </p:spPr>
        <p:txBody>
          <a:bodyPr>
            <a:spAutoFit/>
          </a:bodyPr>
          <a:lstStyle/>
          <a:p>
            <a:pPr>
              <a:lnSpc>
                <a:spcPct val="200000"/>
              </a:lnSpc>
            </a:pPr>
            <a:r>
              <a:rPr lang="en-GB" sz="2400" b="1" dirty="0" smtClean="0"/>
              <a:t>Future </a:t>
            </a:r>
            <a:r>
              <a:rPr lang="en-GB" sz="2400" b="1" dirty="0" smtClean="0"/>
              <a:t>Enhancement:</a:t>
            </a:r>
            <a:endParaRPr lang="en-GB" sz="2400" b="1" dirty="0" smtClean="0"/>
          </a:p>
          <a:p>
            <a:pPr>
              <a:lnSpc>
                <a:spcPct val="200000"/>
              </a:lnSpc>
              <a:buFont typeface="Arial" pitchFamily="34" charset="0"/>
              <a:buChar char="•"/>
            </a:pPr>
            <a:r>
              <a:rPr lang="en-GB" dirty="0" smtClean="0"/>
              <a:t>  Real-time </a:t>
            </a:r>
            <a:r>
              <a:rPr lang="en-GB" dirty="0" smtClean="0"/>
              <a:t>traffic updates for accurate arrival </a:t>
            </a:r>
            <a:r>
              <a:rPr lang="en-GB" dirty="0" smtClean="0"/>
              <a:t>time.</a:t>
            </a:r>
          </a:p>
          <a:p>
            <a:pPr>
              <a:lnSpc>
                <a:spcPct val="200000"/>
              </a:lnSpc>
              <a:buFont typeface="Arial" pitchFamily="34" charset="0"/>
              <a:buChar char="•"/>
            </a:pPr>
            <a:r>
              <a:rPr lang="en-GB" dirty="0" smtClean="0"/>
              <a:t> </a:t>
            </a:r>
            <a:r>
              <a:rPr lang="en-GB" dirty="0" smtClean="0"/>
              <a:t> Online </a:t>
            </a:r>
            <a:r>
              <a:rPr lang="en-GB" dirty="0" smtClean="0"/>
              <a:t>ticket booking </a:t>
            </a:r>
            <a:r>
              <a:rPr lang="en-GB" dirty="0" err="1" smtClean="0"/>
              <a:t>facilit</a:t>
            </a:r>
            <a:r>
              <a:rPr lang="en-GB" dirty="0" smtClean="0"/>
              <a:t>.</a:t>
            </a:r>
          </a:p>
          <a:p>
            <a:pPr>
              <a:lnSpc>
                <a:spcPct val="200000"/>
              </a:lnSpc>
              <a:buFont typeface="Arial" pitchFamily="34" charset="0"/>
              <a:buChar char="•"/>
            </a:pPr>
            <a:r>
              <a:rPr lang="en-GB" dirty="0" smtClean="0"/>
              <a:t> </a:t>
            </a:r>
            <a:r>
              <a:rPr lang="en-GB" dirty="0" smtClean="0"/>
              <a:t> SMS </a:t>
            </a:r>
            <a:r>
              <a:rPr lang="en-GB" dirty="0" smtClean="0"/>
              <a:t>and notification alerts for bus </a:t>
            </a:r>
            <a:r>
              <a:rPr lang="en-GB" dirty="0" smtClean="0"/>
              <a:t>arrival.</a:t>
            </a:r>
          </a:p>
          <a:p>
            <a:pPr>
              <a:lnSpc>
                <a:spcPct val="200000"/>
              </a:lnSpc>
              <a:buFont typeface="Arial" pitchFamily="34" charset="0"/>
              <a:buChar char="•"/>
            </a:pPr>
            <a:r>
              <a:rPr lang="en-GB" dirty="0" smtClean="0"/>
              <a:t> </a:t>
            </a:r>
            <a:r>
              <a:rPr lang="en-GB" dirty="0" smtClean="0"/>
              <a:t> Voice guidance and local language support.</a:t>
            </a:r>
          </a:p>
          <a:p>
            <a:pPr>
              <a:lnSpc>
                <a:spcPct val="200000"/>
              </a:lnSpc>
              <a:buFont typeface="Arial" pitchFamily="34" charset="0"/>
              <a:buChar char="•"/>
            </a:pPr>
            <a:r>
              <a:rPr lang="en-GB" dirty="0" smtClean="0"/>
              <a:t> </a:t>
            </a:r>
            <a:r>
              <a:rPr lang="en-GB" dirty="0" smtClean="0"/>
              <a:t> Offline </a:t>
            </a:r>
            <a:r>
              <a:rPr lang="en-GB" dirty="0" smtClean="0"/>
              <a:t>access for basic bus route </a:t>
            </a:r>
            <a:r>
              <a:rPr lang="en-GB" dirty="0" smtClean="0"/>
              <a:t>information.</a:t>
            </a:r>
            <a:endParaRPr lang="en-GB"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58090" y="1567543"/>
            <a:ext cx="9130937" cy="2801408"/>
          </a:xfrm>
          <a:prstGeom prst="rect">
            <a:avLst/>
          </a:prstGeom>
        </p:spPr>
        <p:txBody>
          <a:bodyPr wrap="square">
            <a:spAutoFit/>
          </a:bodyPr>
          <a:lstStyle/>
          <a:p>
            <a:pPr>
              <a:lnSpc>
                <a:spcPct val="150000"/>
              </a:lnSpc>
            </a:pPr>
            <a:r>
              <a:rPr lang="en-GB" sz="2400" b="1" dirty="0" smtClean="0"/>
              <a:t>Conclusion:</a:t>
            </a:r>
            <a:endParaRPr lang="en-GB" sz="2400" b="1" dirty="0" smtClean="0"/>
          </a:p>
          <a:p>
            <a:pPr>
              <a:lnSpc>
                <a:spcPct val="150000"/>
              </a:lnSpc>
            </a:pPr>
            <a:r>
              <a:rPr lang="en-GB" dirty="0" smtClean="0"/>
              <a:t>                The </a:t>
            </a:r>
            <a:r>
              <a:rPr lang="en-GB" b="1" dirty="0" err="1" smtClean="0"/>
              <a:t>MyBusStand</a:t>
            </a:r>
            <a:r>
              <a:rPr lang="en-GB" dirty="0" smtClean="0"/>
              <a:t> project provides an effective solution for tracking village and town buses in real time. It helps users know the bus location, route, and arrival time, reducing waiting time and confusion at bus stops. With a simple and user-friendly design, this application improves the public transportation experience and is highly useful for daily commuters.</a:t>
            </a:r>
            <a:endParaRPr lang="en-GB"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xmlns="" id="{0E0CFA53-CCA4-D4E2-FCC5-6726C969662F}"/>
            </a:ext>
          </a:extLst>
        </p:cNvPr>
        <p:cNvGrpSpPr/>
        <p:nvPr/>
      </p:nvGrpSpPr>
      <p:grpSpPr>
        <a:xfrm>
          <a:off x="0" y="0"/>
          <a:ext cx="0" cy="0"/>
          <a:chOff x="0" y="0"/>
          <a:chExt cx="0" cy="0"/>
        </a:xfrm>
      </p:grpSpPr>
      <p:sp>
        <p:nvSpPr>
          <p:cNvPr id="61" name="Google Shape;61;g5fab984687_2_0">
            <a:extLst>
              <a:ext uri="{FF2B5EF4-FFF2-40B4-BE49-F238E27FC236}">
                <a16:creationId xmlns:a16="http://schemas.microsoft.com/office/drawing/2014/main" xmlns="" id="{6696FB24-3D2E-A463-EE53-519161154037}"/>
              </a:ext>
            </a:extLst>
          </p:cNvPr>
          <p:cNvSpPr txBox="1">
            <a:spLocks noGrp="1"/>
          </p:cNvSpPr>
          <p:nvPr>
            <p:ph type="title" idx="4294967295"/>
          </p:nvPr>
        </p:nvSpPr>
        <p:spPr>
          <a:xfrm>
            <a:off x="585256" y="1061905"/>
            <a:ext cx="3914776" cy="429684"/>
          </a:xfrm>
          <a:prstGeom prst="rect">
            <a:avLst/>
          </a:prstGeom>
          <a:noFill/>
          <a:ln>
            <a:noFill/>
          </a:ln>
        </p:spPr>
        <p:txBody>
          <a:bodyPr spcFirstLastPara="1" wrap="square" lIns="121900" tIns="121900" rIns="121900" bIns="121900" anchor="t" anchorCtr="0">
            <a:noAutofit/>
          </a:bodyPr>
          <a:lstStyle/>
          <a:p>
            <a:pPr>
              <a:buSzPts val="2800"/>
            </a:pPr>
            <a:r>
              <a:rPr lang="en-US" sz="2800" b="1" dirty="0">
                <a:solidFill>
                  <a:srgbClr val="213163"/>
                </a:solidFill>
              </a:rPr>
              <a:t>R</a:t>
            </a:r>
            <a:r>
              <a:rPr lang="en-IN" sz="2800" b="1" dirty="0" err="1">
                <a:solidFill>
                  <a:srgbClr val="213163"/>
                </a:solidFill>
              </a:rPr>
              <a:t>eferences</a:t>
            </a:r>
            <a:r>
              <a:rPr lang="en-IN" sz="2800" b="1" dirty="0">
                <a:solidFill>
                  <a:srgbClr val="213163"/>
                </a:solidFill>
              </a:rPr>
              <a:t>:</a:t>
            </a:r>
          </a:p>
        </p:txBody>
      </p:sp>
      <p:sp>
        <p:nvSpPr>
          <p:cNvPr id="2" name="Google Shape;62;g5fab984687_2_0">
            <a:extLst>
              <a:ext uri="{FF2B5EF4-FFF2-40B4-BE49-F238E27FC236}">
                <a16:creationId xmlns:a16="http://schemas.microsoft.com/office/drawing/2014/main" xmlns="" id="{07E1EAD1-F835-6956-77CD-17363121C17E}"/>
              </a:ext>
            </a:extLst>
          </p:cNvPr>
          <p:cNvSpPr txBox="1">
            <a:spLocks/>
          </p:cNvSpPr>
          <p:nvPr/>
        </p:nvSpPr>
        <p:spPr>
          <a:xfrm>
            <a:off x="1106441" y="1946367"/>
            <a:ext cx="8898173" cy="528485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lnSpc>
                <a:spcPct val="150000"/>
              </a:lnSpc>
              <a:spcBef>
                <a:spcPts val="267"/>
              </a:spcBef>
              <a:buClr>
                <a:srgbClr val="213163"/>
              </a:buClr>
              <a:buFont typeface="Wingdings" panose="05000000000000000000" pitchFamily="2" charset="2"/>
              <a:buChar char="v"/>
            </a:pPr>
            <a:r>
              <a:rPr lang="en-US" sz="1867" dirty="0">
                <a:hlinkClick r:id="rId4"/>
              </a:rPr>
              <a:t>https://nodejs.org/api/net.html</a:t>
            </a:r>
            <a:endParaRPr lang="en-US" sz="1867" dirty="0"/>
          </a:p>
          <a:p>
            <a:pPr marL="342900" indent="-342900">
              <a:lnSpc>
                <a:spcPct val="150000"/>
              </a:lnSpc>
              <a:spcBef>
                <a:spcPts val="267"/>
              </a:spcBef>
              <a:buClr>
                <a:srgbClr val="213163"/>
              </a:buClr>
              <a:buFont typeface="Wingdings" panose="05000000000000000000" pitchFamily="2" charset="2"/>
              <a:buChar char="v"/>
            </a:pPr>
            <a:r>
              <a:rPr lang="en-US" sz="2000" dirty="0"/>
              <a:t>W3Schools Web Development Tutorials – </a:t>
            </a:r>
            <a:r>
              <a:rPr lang="en-US" sz="2000" dirty="0">
                <a:hlinkClick r:id="rId5"/>
              </a:rPr>
              <a:t>https://</a:t>
            </a:r>
            <a:r>
              <a:rPr lang="en-US" sz="2000" dirty="0" smtClean="0">
                <a:hlinkClick r:id="rId5"/>
              </a:rPr>
              <a:t>www.w3schools.com</a:t>
            </a:r>
            <a:endParaRPr lang="en-US" sz="2000" dirty="0" smtClean="0"/>
          </a:p>
          <a:p>
            <a:pPr marL="342900" indent="-342900">
              <a:lnSpc>
                <a:spcPct val="150000"/>
              </a:lnSpc>
              <a:spcBef>
                <a:spcPts val="267"/>
              </a:spcBef>
              <a:buClr>
                <a:srgbClr val="213163"/>
              </a:buClr>
              <a:buFont typeface="Wingdings" panose="05000000000000000000" pitchFamily="2" charset="2"/>
              <a:buChar char="v"/>
            </a:pPr>
            <a:r>
              <a:rPr lang="en-US" sz="2000" dirty="0" smtClean="0"/>
              <a:t>Google </a:t>
            </a:r>
            <a:r>
              <a:rPr lang="en-US" sz="2000" dirty="0" smtClean="0"/>
              <a:t>Maps Platform – Used for map display and live bus </a:t>
            </a:r>
            <a:r>
              <a:rPr lang="en-US" sz="2000" dirty="0" smtClean="0"/>
              <a:t>tracking\</a:t>
            </a:r>
          </a:p>
          <a:p>
            <a:pPr marL="342900" indent="-342900">
              <a:lnSpc>
                <a:spcPct val="150000"/>
              </a:lnSpc>
              <a:spcBef>
                <a:spcPts val="267"/>
              </a:spcBef>
              <a:buClr>
                <a:srgbClr val="213163"/>
              </a:buClr>
              <a:buFont typeface="Wingdings" panose="05000000000000000000" pitchFamily="2" charset="2"/>
              <a:buChar char="v"/>
            </a:pPr>
            <a:r>
              <a:rPr lang="en-US" sz="2000" dirty="0" smtClean="0"/>
              <a:t>Firebase </a:t>
            </a:r>
            <a:r>
              <a:rPr lang="en-US" sz="2000" dirty="0" smtClean="0"/>
              <a:t>– Used for real-time data storage and </a:t>
            </a:r>
            <a:r>
              <a:rPr lang="en-US" sz="2000" dirty="0" smtClean="0"/>
              <a:t>updates</a:t>
            </a:r>
          </a:p>
          <a:p>
            <a:pPr marL="342900" indent="-342900">
              <a:lnSpc>
                <a:spcPct val="150000"/>
              </a:lnSpc>
              <a:spcBef>
                <a:spcPts val="267"/>
              </a:spcBef>
              <a:buClr>
                <a:srgbClr val="213163"/>
              </a:buClr>
              <a:buFont typeface="Wingdings" panose="05000000000000000000" pitchFamily="2" charset="2"/>
              <a:buChar char="v"/>
            </a:pPr>
            <a:r>
              <a:rPr lang="en-US" sz="2000" dirty="0" smtClean="0"/>
              <a:t>Android </a:t>
            </a:r>
            <a:r>
              <a:rPr lang="en-US" sz="2000" dirty="0" smtClean="0"/>
              <a:t>Developers – Reference for mobile app </a:t>
            </a:r>
            <a:r>
              <a:rPr lang="en-US" sz="2000" dirty="0" smtClean="0"/>
              <a:t>development</a:t>
            </a:r>
          </a:p>
          <a:p>
            <a:pPr marL="342900" indent="-342900">
              <a:lnSpc>
                <a:spcPct val="150000"/>
              </a:lnSpc>
              <a:spcBef>
                <a:spcPts val="267"/>
              </a:spcBef>
              <a:buClr>
                <a:srgbClr val="213163"/>
              </a:buClr>
              <a:buFont typeface="Wingdings" panose="05000000000000000000" pitchFamily="2" charset="2"/>
              <a:buChar char="v"/>
            </a:pPr>
            <a:r>
              <a:rPr lang="en-US" sz="2000" dirty="0" err="1" smtClean="0"/>
              <a:t>Django</a:t>
            </a:r>
            <a:r>
              <a:rPr lang="en-US" sz="2000" dirty="0" smtClean="0"/>
              <a:t> </a:t>
            </a:r>
            <a:r>
              <a:rPr lang="en-US" sz="2000" dirty="0" smtClean="0"/>
              <a:t>– Used for backend service and </a:t>
            </a:r>
            <a:r>
              <a:rPr lang="en-US" sz="2000" dirty="0" smtClean="0"/>
              <a:t>APIs</a:t>
            </a:r>
          </a:p>
          <a:p>
            <a:pPr marL="342900" indent="-342900">
              <a:lnSpc>
                <a:spcPct val="150000"/>
              </a:lnSpc>
              <a:spcBef>
                <a:spcPts val="267"/>
              </a:spcBef>
              <a:buClr>
                <a:srgbClr val="213163"/>
              </a:buClr>
              <a:buFont typeface="Wingdings" panose="05000000000000000000" pitchFamily="2" charset="2"/>
              <a:buChar char="v"/>
            </a:pPr>
            <a:r>
              <a:rPr lang="en-US" sz="2000" dirty="0" err="1" smtClean="0"/>
              <a:t>OpenStreetMap</a:t>
            </a:r>
            <a:r>
              <a:rPr lang="en-US" sz="2000" dirty="0" smtClean="0"/>
              <a:t> </a:t>
            </a:r>
            <a:r>
              <a:rPr lang="en-US" sz="2000" dirty="0" smtClean="0"/>
              <a:t>– Alternative map and route data source</a:t>
            </a:r>
          </a:p>
          <a:p>
            <a:pPr marL="342900" indent="-342900">
              <a:lnSpc>
                <a:spcPct val="200000"/>
              </a:lnSpc>
              <a:spcBef>
                <a:spcPts val="267"/>
              </a:spcBef>
              <a:buClr>
                <a:srgbClr val="213163"/>
              </a:buClr>
              <a:buFont typeface="Wingdings" panose="05000000000000000000" pitchFamily="2" charset="2"/>
              <a:buChar char="v"/>
            </a:pPr>
            <a:endParaRPr lang="en-US" sz="1867" dirty="0"/>
          </a:p>
        </p:txBody>
      </p:sp>
    </p:spTree>
    <p:custDataLst>
      <p:tags r:id="rId1"/>
    </p:custDataLst>
    <p:extLst>
      <p:ext uri="{BB962C8B-B14F-4D97-AF65-F5344CB8AC3E}">
        <p14:creationId xmlns:p14="http://schemas.microsoft.com/office/powerpoint/2010/main" xmlns="" val="407749740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9162bd5b-4ed9-4da3-b376-05204580ba3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5" ma:contentTypeDescription="Create a new document." ma:contentTypeScope="" ma:versionID="7670618c03e54fbae4a17ecb2d0ed10f">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3d63de1c5a217044e31e0c8b260d3d71"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706AB80-2608-47D7-8AC8-FA6BC8A9B27C}">
  <ds:schemaRefs>
    <ds:schemaRef ds:uri="http://schemas.microsoft.com/sharepoint/v3/contenttype/forms"/>
  </ds:schemaRefs>
</ds:datastoreItem>
</file>

<file path=customXml/itemProps2.xml><?xml version="1.0" encoding="utf-8"?>
<ds:datastoreItem xmlns:ds="http://schemas.openxmlformats.org/officeDocument/2006/customXml" ds:itemID="{A6559A34-456E-49A1-8157-9E3D18BFAD36}">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7D9E5D5E-A365-4A49-8140-C8CC82A61608}">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687</TotalTime>
  <Words>1311</Words>
  <Application>Microsoft Office PowerPoint</Application>
  <PresentationFormat>Custom</PresentationFormat>
  <Paragraphs>242</Paragraphs>
  <Slides>14</Slides>
  <Notes>8</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Simple Light</vt:lpstr>
      <vt:lpstr>Slide 1</vt:lpstr>
      <vt:lpstr>Slide 2</vt:lpstr>
      <vt:lpstr>Slide 3</vt:lpstr>
      <vt:lpstr>Table of Contents:</vt:lpstr>
      <vt:lpstr>Slide 5</vt:lpstr>
      <vt:lpstr>Slide 6</vt:lpstr>
      <vt:lpstr>Slide 7</vt:lpstr>
      <vt:lpstr>Slide 8</vt:lpstr>
      <vt:lpstr>Slide 9</vt:lpstr>
      <vt:lpstr>Slide 10</vt:lpstr>
      <vt:lpstr>Slide 11</vt:lpstr>
      <vt:lpstr>Slide 12</vt:lpstr>
      <vt:lpstr>Slide 13</vt:lpstr>
      <vt:lpstr>References: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Helvin Mg</dc:creator>
  <cp:lastModifiedBy>admin</cp:lastModifiedBy>
  <cp:revision>34</cp:revision>
  <dcterms:modified xsi:type="dcterms:W3CDTF">2026-02-19T16:31:54Z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y fmtid="{D5CDD505-2E9C-101B-9397-08002B2CF9AE}" pid="3" name="ArticulateGUID">
    <vt:lpwstr>ADA14AB9-6E05-4AF1-84FB-ACE67E38F4B9</vt:lpwstr>
  </property>
  <property fmtid="{D5CDD505-2E9C-101B-9397-08002B2CF9AE}" pid="4" name="ArticulatePath">
    <vt:lpwstr>https://edunetfoundationorg-my.sharepoint.com/personal/kaisar_edunetfoundation_org/Documents/Beutified ppt/EY/Student showcase 2025/Master Class 2 - UI_UX Design Principles</vt:lpwstr>
  </property>
</Properties>
</file>